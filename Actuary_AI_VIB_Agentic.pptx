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3024761" y="774157"/>
            <a:ext cx="3094478" cy="745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5200">
                <a:solidFill>
                  <a:srgbClr val="FFFFFF"/>
                </a:solidFill>
              </a:defRPr>
            </a:lvl1pPr>
          </a:lstStyle>
          <a:p>
            <a:pPr/>
            <a:r>
              <a:t>Actuary AI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1338033" y="1790777"/>
            <a:ext cx="6467934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A8C0F0"/>
                </a:solidFill>
              </a:defRPr>
            </a:lvl1pPr>
          </a:lstStyle>
          <a:p>
            <a:pPr/>
            <a:r>
              <a:t>Multi-Agent Uncertainty System  ·  Variational Information Bottleneck  ·  POMDP</a:t>
            </a:r>
          </a:p>
        </p:txBody>
      </p:sp>
      <p:sp>
        <p:nvSpPr>
          <p:cNvPr id="23" name="Shape 23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24"/>
          <p:cNvSpPr txBox="1"/>
          <p:nvPr/>
        </p:nvSpPr>
        <p:spPr>
          <a:xfrm>
            <a:off x="320040" y="4832648"/>
            <a:ext cx="85039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B8C8E8"/>
                </a:solidFill>
              </a:defRPr>
            </a:lvl1pPr>
          </a:lstStyle>
          <a:p>
            <a:pPr/>
            <a:r>
              <a:t>B.Sai Vikas  •  K.Nitheesh Kumar  •  J.JayaSurya     |     Dept. of Computer Science &amp; Engineering, IIIT Naya Raipur</a:t>
            </a:r>
          </a:p>
        </p:txBody>
      </p:sp>
      <p:sp>
        <p:nvSpPr>
          <p:cNvPr id="25" name="Double-click to edit"/>
          <p:cNvSpPr txBox="1"/>
          <p:nvPr>
            <p:ph type="body" sz="half" idx="4294967295"/>
          </p:nvPr>
        </p:nvSpPr>
        <p:spPr>
          <a:xfrm>
            <a:off x="-7207" y="2204057"/>
            <a:ext cx="9158414" cy="1542990"/>
          </a:xfrm>
          <a:prstGeom prst="rect">
            <a:avLst/>
          </a:prstGeom>
          <a:solidFill>
            <a:srgbClr val="8592BC"/>
          </a:solidFill>
        </p:spPr>
        <p:txBody>
          <a:bodyPr lIns="45718" tIns="45718" rIns="45718" bIns="45718">
            <a:normAutofit fontScale="100000" lnSpcReduction="0"/>
          </a:bodyPr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SzTx/>
              <a:buNone/>
              <a:defRPr sz="100">
                <a:solidFill>
                  <a:srgbClr val="DBEFF9"/>
                </a:solidFill>
              </a:defRPr>
            </a:pPr>
          </a:p>
        </p:txBody>
      </p:sp>
      <p:sp>
        <p:nvSpPr>
          <p:cNvPr id="26" name="Group Member name: Bandi Sai Vikas - 231010419…"/>
          <p:cNvSpPr txBox="1"/>
          <p:nvPr/>
        </p:nvSpPr>
        <p:spPr>
          <a:xfrm>
            <a:off x="239987" y="2345632"/>
            <a:ext cx="3280764" cy="1259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684212">
              <a:spcBef>
                <a:spcPts val="400"/>
              </a:spcBef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Group Member name:</a:t>
            </a:r>
            <a:br/>
            <a:r>
              <a:t>Bandi Sai Vikas - 231010419</a:t>
            </a:r>
          </a:p>
          <a:p>
            <a:pPr defTabSz="684212">
              <a:spcBef>
                <a:spcPts val="400"/>
              </a:spcBef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k.Nitheesh kumar - 231000026</a:t>
            </a:r>
          </a:p>
          <a:p>
            <a:pPr defTabSz="684212">
              <a:lnSpc>
                <a:spcPct val="90000"/>
              </a:lnSpc>
              <a:spcBef>
                <a:spcPts val="400"/>
              </a:spcBef>
              <a:defRPr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J. Jayasurya - 231000025</a:t>
            </a:r>
          </a:p>
        </p:txBody>
      </p:sp>
      <p:sp>
        <p:nvSpPr>
          <p:cNvPr id="27" name="Date:15-05-2026"/>
          <p:cNvSpPr txBox="1"/>
          <p:nvPr/>
        </p:nvSpPr>
        <p:spPr>
          <a:xfrm>
            <a:off x="6176047" y="2758382"/>
            <a:ext cx="3015301" cy="434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Date:18-05-2026</a:t>
            </a:r>
          </a:p>
        </p:txBody>
      </p:sp>
      <p:pic>
        <p:nvPicPr>
          <p:cNvPr id="2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20" t="22135" r="1482" b="7635"/>
          <a:stretch>
            <a:fillRect/>
          </a:stretch>
        </p:blipFill>
        <p:spPr>
          <a:xfrm>
            <a:off x="185868" y="3958334"/>
            <a:ext cx="948107" cy="7898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9" h="21527" fill="norm" stroke="1" extrusionOk="0">
                <a:moveTo>
                  <a:pt x="9278" y="24"/>
                </a:moveTo>
                <a:cubicBezTo>
                  <a:pt x="8811" y="56"/>
                  <a:pt x="8362" y="124"/>
                  <a:pt x="7949" y="219"/>
                </a:cubicBezTo>
                <a:cubicBezTo>
                  <a:pt x="6594" y="530"/>
                  <a:pt x="4666" y="1514"/>
                  <a:pt x="3590" y="2447"/>
                </a:cubicBezTo>
                <a:cubicBezTo>
                  <a:pt x="2003" y="3823"/>
                  <a:pt x="612" y="6260"/>
                  <a:pt x="179" y="8428"/>
                </a:cubicBezTo>
                <a:cubicBezTo>
                  <a:pt x="-140" y="10026"/>
                  <a:pt x="-20" y="12624"/>
                  <a:pt x="441" y="14052"/>
                </a:cubicBezTo>
                <a:cubicBezTo>
                  <a:pt x="1666" y="17841"/>
                  <a:pt x="4968" y="20848"/>
                  <a:pt x="8490" y="21385"/>
                </a:cubicBezTo>
                <a:cubicBezTo>
                  <a:pt x="9078" y="21475"/>
                  <a:pt x="9456" y="21524"/>
                  <a:pt x="9853" y="21526"/>
                </a:cubicBezTo>
                <a:cubicBezTo>
                  <a:pt x="10251" y="21528"/>
                  <a:pt x="10668" y="21479"/>
                  <a:pt x="11351" y="21396"/>
                </a:cubicBezTo>
                <a:cubicBezTo>
                  <a:pt x="15097" y="20941"/>
                  <a:pt x="18486" y="18011"/>
                  <a:pt x="19688" y="14182"/>
                </a:cubicBezTo>
                <a:cubicBezTo>
                  <a:pt x="21460" y="8537"/>
                  <a:pt x="18662" y="2501"/>
                  <a:pt x="13374" y="543"/>
                </a:cubicBezTo>
                <a:cubicBezTo>
                  <a:pt x="12222" y="117"/>
                  <a:pt x="10677" y="-72"/>
                  <a:pt x="9278" y="24"/>
                </a:cubicBezTo>
                <a:close/>
                <a:moveTo>
                  <a:pt x="9565" y="3355"/>
                </a:moveTo>
                <a:cubicBezTo>
                  <a:pt x="9720" y="3367"/>
                  <a:pt x="9809" y="3409"/>
                  <a:pt x="9785" y="3485"/>
                </a:cubicBezTo>
                <a:cubicBezTo>
                  <a:pt x="9725" y="3678"/>
                  <a:pt x="9664" y="3717"/>
                  <a:pt x="8854" y="4102"/>
                </a:cubicBezTo>
                <a:cubicBezTo>
                  <a:pt x="8592" y="4226"/>
                  <a:pt x="8191" y="4456"/>
                  <a:pt x="7966" y="4610"/>
                </a:cubicBezTo>
                <a:cubicBezTo>
                  <a:pt x="7525" y="4911"/>
                  <a:pt x="7317" y="4890"/>
                  <a:pt x="6942" y="4491"/>
                </a:cubicBezTo>
                <a:cubicBezTo>
                  <a:pt x="6711" y="4247"/>
                  <a:pt x="6737" y="4219"/>
                  <a:pt x="7407" y="3874"/>
                </a:cubicBezTo>
                <a:cubicBezTo>
                  <a:pt x="8018" y="3559"/>
                  <a:pt x="9101" y="3322"/>
                  <a:pt x="9565" y="3355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" name="Text 2"/>
          <p:cNvSpPr txBox="1"/>
          <p:nvPr/>
        </p:nvSpPr>
        <p:spPr>
          <a:xfrm>
            <a:off x="1167555" y="4040834"/>
            <a:ext cx="4992903" cy="625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>
                <a:solidFill>
                  <a:srgbClr val="1B2A7B"/>
                </a:solidFill>
              </a:defRPr>
            </a:lvl1pPr>
          </a:lstStyle>
          <a:p>
            <a:pPr/>
            <a:r>
              <a:t>Dr. Shyama Prasad Mukherjee International Institute of Information Technology, Naya Raipur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"/>
          <p:cNvSpPr txBox="1"/>
          <p:nvPr/>
        </p:nvSpPr>
        <p:spPr>
          <a:xfrm>
            <a:off x="8275319" y="4822751"/>
            <a:ext cx="6858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411479" y="194070"/>
            <a:ext cx="7863842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F2473"/>
                </a:solidFill>
              </a:defRPr>
            </a:lvl1pPr>
          </a:lstStyle>
          <a:p>
            <a:pPr/>
            <a:r>
              <a:t>The Problem: Confidently Wrong Agents</a:t>
            </a:r>
          </a:p>
        </p:txBody>
      </p:sp>
      <p:sp>
        <p:nvSpPr>
          <p:cNvPr id="34" name="Text 6"/>
          <p:cNvSpPr txBox="1"/>
          <p:nvPr/>
        </p:nvSpPr>
        <p:spPr>
          <a:xfrm>
            <a:off x="411479" y="910397"/>
            <a:ext cx="78638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7474F"/>
                </a:solidFill>
              </a:defRPr>
            </a:lvl1pPr>
          </a:lstStyle>
          <a:p>
            <a:pPr/>
            <a:r>
              <a:t>LLMs in high-stakes domains express high confidence in wrong answers — with no error signal</a:t>
            </a:r>
          </a:p>
        </p:txBody>
      </p:sp>
      <p:sp>
        <p:nvSpPr>
          <p:cNvPr id="35" name="Shape 7"/>
          <p:cNvSpPr/>
          <p:nvPr/>
        </p:nvSpPr>
        <p:spPr>
          <a:xfrm>
            <a:off x="365759" y="1382267"/>
            <a:ext cx="2743201" cy="297180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" name="Text 8"/>
          <p:cNvSpPr txBox="1"/>
          <p:nvPr/>
        </p:nvSpPr>
        <p:spPr>
          <a:xfrm>
            <a:off x="548639" y="1488870"/>
            <a:ext cx="23774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90A4AE"/>
                </a:solidFill>
              </a:defRPr>
            </a:lvl1pPr>
          </a:lstStyle>
          <a:p>
            <a:pPr/>
            <a:r>
              <a:t>Model said</a:t>
            </a:r>
          </a:p>
        </p:txBody>
      </p:sp>
      <p:sp>
        <p:nvSpPr>
          <p:cNvPr id="37" name="Text 9"/>
          <p:cNvSpPr txBox="1"/>
          <p:nvPr/>
        </p:nvSpPr>
        <p:spPr>
          <a:xfrm>
            <a:off x="548639" y="1673865"/>
            <a:ext cx="2377442" cy="843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5800"/>
            </a:lvl1pPr>
          </a:lstStyle>
          <a:p>
            <a:pPr/>
            <a:r>
              <a:t>84.5%</a:t>
            </a:r>
          </a:p>
        </p:txBody>
      </p:sp>
      <p:sp>
        <p:nvSpPr>
          <p:cNvPr id="38" name="Text 10"/>
          <p:cNvSpPr txBox="1"/>
          <p:nvPr/>
        </p:nvSpPr>
        <p:spPr>
          <a:xfrm>
            <a:off x="548639" y="2476422"/>
            <a:ext cx="23774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90A4AE"/>
                </a:solidFill>
              </a:defRPr>
            </a:lvl1pPr>
          </a:lstStyle>
          <a:p>
            <a:pPr/>
            <a:r>
              <a:t>confident</a:t>
            </a:r>
          </a:p>
        </p:txBody>
      </p:sp>
      <p:sp>
        <p:nvSpPr>
          <p:cNvPr id="39" name="Shape 11"/>
          <p:cNvSpPr/>
          <p:nvPr/>
        </p:nvSpPr>
        <p:spPr>
          <a:xfrm>
            <a:off x="640079" y="2753867"/>
            <a:ext cx="2194562" cy="36577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2"/>
          <p:cNvSpPr txBox="1"/>
          <p:nvPr/>
        </p:nvSpPr>
        <p:spPr>
          <a:xfrm>
            <a:off x="548639" y="2842182"/>
            <a:ext cx="23774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90A4AE"/>
                </a:solidFill>
              </a:defRPr>
            </a:lvl1pPr>
          </a:lstStyle>
          <a:p>
            <a:pPr/>
            <a:r>
              <a:t>Actually correct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548639" y="2988025"/>
            <a:ext cx="2377442" cy="738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5000"/>
            </a:lvl1pPr>
          </a:lstStyle>
          <a:p>
            <a:pPr/>
            <a:r>
              <a:t>68%</a:t>
            </a:r>
          </a:p>
        </p:txBody>
      </p:sp>
      <p:sp>
        <p:nvSpPr>
          <p:cNvPr id="42" name="Text 14"/>
          <p:cNvSpPr txBox="1"/>
          <p:nvPr/>
        </p:nvSpPr>
        <p:spPr>
          <a:xfrm>
            <a:off x="548639" y="3727748"/>
            <a:ext cx="23774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/>
            </a:lvl1pPr>
          </a:lstStyle>
          <a:p>
            <a:pPr/>
            <a:r>
              <a:t>Gap = 16.5 percentage points</a:t>
            </a:r>
          </a:p>
        </p:txBody>
      </p:sp>
      <p:sp>
        <p:nvSpPr>
          <p:cNvPr id="43" name="Text 15"/>
          <p:cNvSpPr txBox="1"/>
          <p:nvPr/>
        </p:nvSpPr>
        <p:spPr>
          <a:xfrm>
            <a:off x="548639" y="4027083"/>
            <a:ext cx="23774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90A4AE"/>
                </a:solidFill>
              </a:defRPr>
            </a:lvl1pPr>
          </a:lstStyle>
          <a:p>
            <a:pPr/>
            <a:r>
              <a:t>100 actuarial questions · Mistral 7B</a:t>
            </a:r>
          </a:p>
        </p:txBody>
      </p:sp>
      <p:sp>
        <p:nvSpPr>
          <p:cNvPr id="44" name="Shape 16"/>
          <p:cNvSpPr/>
          <p:nvPr/>
        </p:nvSpPr>
        <p:spPr>
          <a:xfrm>
            <a:off x="3291840" y="1445767"/>
            <a:ext cx="5577841" cy="8778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hape 17"/>
          <p:cNvSpPr/>
          <p:nvPr/>
        </p:nvSpPr>
        <p:spPr>
          <a:xfrm>
            <a:off x="3291840" y="1445767"/>
            <a:ext cx="91441" cy="877825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8"/>
          <p:cNvSpPr txBox="1"/>
          <p:nvPr/>
        </p:nvSpPr>
        <p:spPr>
          <a:xfrm>
            <a:off x="3520440" y="1495351"/>
            <a:ext cx="52120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/>
            </a:lvl1pPr>
          </a:lstStyle>
          <a:p>
            <a:pPr/>
            <a:r>
              <a:t>Why does this break agentic systems?</a:t>
            </a:r>
          </a:p>
        </p:txBody>
      </p:sp>
      <p:sp>
        <p:nvSpPr>
          <p:cNvPr id="47" name="Text 19"/>
          <p:cNvSpPr txBox="1"/>
          <p:nvPr/>
        </p:nvSpPr>
        <p:spPr>
          <a:xfrm>
            <a:off x="3520440" y="1811318"/>
            <a:ext cx="521208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When an LLM agent says "91% confident" and is wrong, the POMDP layer sees a trusted answer and passes it without human review — causing silent, automated errors in insurance decisions.</a:t>
            </a:r>
          </a:p>
        </p:txBody>
      </p:sp>
      <p:sp>
        <p:nvSpPr>
          <p:cNvPr id="48" name="Shape 20"/>
          <p:cNvSpPr/>
          <p:nvPr/>
        </p:nvSpPr>
        <p:spPr>
          <a:xfrm>
            <a:off x="3291840" y="2433320"/>
            <a:ext cx="5577841" cy="8778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21"/>
          <p:cNvSpPr/>
          <p:nvPr/>
        </p:nvSpPr>
        <p:spPr>
          <a:xfrm>
            <a:off x="3291840" y="2433320"/>
            <a:ext cx="91441" cy="877825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22"/>
          <p:cNvSpPr txBox="1"/>
          <p:nvPr/>
        </p:nvSpPr>
        <p:spPr>
          <a:xfrm>
            <a:off x="3520440" y="2482903"/>
            <a:ext cx="52120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/>
            </a:lvl1pPr>
          </a:lstStyle>
          <a:p>
            <a:pPr/>
            <a:r>
              <a:t>What ECE measures</a:t>
            </a:r>
          </a:p>
        </p:txBody>
      </p:sp>
      <p:sp>
        <p:nvSpPr>
          <p:cNvPr id="51" name="Text 23"/>
          <p:cNvSpPr txBox="1"/>
          <p:nvPr/>
        </p:nvSpPr>
        <p:spPr>
          <a:xfrm>
            <a:off x="3520440" y="2716320"/>
            <a:ext cx="5212081" cy="558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Expected Calibration Error — the gap between expressed confidence and actual accuracy. ECE = 0.2945 means model is ~29 percentage points overconfident on average. Perfect calibration = ECE of zero.</a:t>
            </a:r>
          </a:p>
        </p:txBody>
      </p:sp>
      <p:sp>
        <p:nvSpPr>
          <p:cNvPr id="52" name="Shape 24"/>
          <p:cNvSpPr/>
          <p:nvPr/>
        </p:nvSpPr>
        <p:spPr>
          <a:xfrm>
            <a:off x="3291840" y="3420871"/>
            <a:ext cx="5577841" cy="8778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25"/>
          <p:cNvSpPr/>
          <p:nvPr/>
        </p:nvSpPr>
        <p:spPr>
          <a:xfrm>
            <a:off x="3291840" y="3420871"/>
            <a:ext cx="91441" cy="877825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6"/>
          <p:cNvSpPr txBox="1"/>
          <p:nvPr/>
        </p:nvSpPr>
        <p:spPr>
          <a:xfrm>
            <a:off x="3520440" y="3470454"/>
            <a:ext cx="52120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/>
            </a:lvl1pPr>
          </a:lstStyle>
          <a:p>
            <a:pPr/>
            <a:r>
              <a:t>Why existing fixes are insufficient</a:t>
            </a:r>
          </a:p>
        </p:txBody>
      </p:sp>
      <p:sp>
        <p:nvSpPr>
          <p:cNvPr id="55" name="Text 27"/>
          <p:cNvSpPr txBox="1"/>
          <p:nvPr/>
        </p:nvSpPr>
        <p:spPr>
          <a:xfrm>
            <a:off x="3520440" y="3786422"/>
            <a:ext cx="521208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Temperature Scaling and MC Dropout apply the same correction to all inputs regardless of context. They cannot detect per-prediction uncertainty from the information in the input itself.</a:t>
            </a:r>
          </a:p>
        </p:txBody>
      </p:sp>
      <p:pic>
        <p:nvPicPr>
          <p:cNvPr id="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22" t="22155" r="1475" b="7642"/>
          <a:stretch>
            <a:fillRect/>
          </a:stretch>
        </p:blipFill>
        <p:spPr>
          <a:xfrm>
            <a:off x="8111138" y="66252"/>
            <a:ext cx="895347" cy="745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7" h="21560" fill="norm" stroke="1" extrusionOk="0">
                <a:moveTo>
                  <a:pt x="10698" y="19"/>
                </a:moveTo>
                <a:cubicBezTo>
                  <a:pt x="9739" y="-38"/>
                  <a:pt x="8773" y="36"/>
                  <a:pt x="7947" y="226"/>
                </a:cubicBezTo>
                <a:cubicBezTo>
                  <a:pt x="6592" y="538"/>
                  <a:pt x="4659" y="1505"/>
                  <a:pt x="3582" y="2441"/>
                </a:cubicBezTo>
                <a:cubicBezTo>
                  <a:pt x="1996" y="3819"/>
                  <a:pt x="610" y="6270"/>
                  <a:pt x="177" y="8443"/>
                </a:cubicBezTo>
                <a:cubicBezTo>
                  <a:pt x="-142" y="10043"/>
                  <a:pt x="-15" y="12635"/>
                  <a:pt x="446" y="14066"/>
                </a:cubicBezTo>
                <a:cubicBezTo>
                  <a:pt x="1670" y="17861"/>
                  <a:pt x="4971" y="20896"/>
                  <a:pt x="8493" y="21434"/>
                </a:cubicBezTo>
                <a:cubicBezTo>
                  <a:pt x="9080" y="21523"/>
                  <a:pt x="9449" y="21558"/>
                  <a:pt x="9846" y="21560"/>
                </a:cubicBezTo>
                <a:cubicBezTo>
                  <a:pt x="10243" y="21562"/>
                  <a:pt x="10661" y="21529"/>
                  <a:pt x="11343" y="21445"/>
                </a:cubicBezTo>
                <a:cubicBezTo>
                  <a:pt x="15089" y="20989"/>
                  <a:pt x="18485" y="18052"/>
                  <a:pt x="19686" y="14215"/>
                </a:cubicBezTo>
                <a:cubicBezTo>
                  <a:pt x="21458" y="8559"/>
                  <a:pt x="18656" y="2496"/>
                  <a:pt x="13368" y="535"/>
                </a:cubicBezTo>
                <a:cubicBezTo>
                  <a:pt x="12600" y="250"/>
                  <a:pt x="11656" y="76"/>
                  <a:pt x="10698" y="19"/>
                </a:cubicBezTo>
                <a:close/>
                <a:moveTo>
                  <a:pt x="9569" y="3359"/>
                </a:moveTo>
                <a:cubicBezTo>
                  <a:pt x="9725" y="3372"/>
                  <a:pt x="9808" y="3420"/>
                  <a:pt x="9784" y="3496"/>
                </a:cubicBezTo>
                <a:cubicBezTo>
                  <a:pt x="9724" y="3689"/>
                  <a:pt x="9661" y="3719"/>
                  <a:pt x="8852" y="4105"/>
                </a:cubicBezTo>
                <a:cubicBezTo>
                  <a:pt x="8590" y="4230"/>
                  <a:pt x="8198" y="4467"/>
                  <a:pt x="7973" y="4621"/>
                </a:cubicBezTo>
                <a:cubicBezTo>
                  <a:pt x="7533" y="4923"/>
                  <a:pt x="7319" y="4882"/>
                  <a:pt x="6943" y="4483"/>
                </a:cubicBezTo>
                <a:cubicBezTo>
                  <a:pt x="6713" y="4238"/>
                  <a:pt x="6730" y="4221"/>
                  <a:pt x="7400" y="3875"/>
                </a:cubicBezTo>
                <a:cubicBezTo>
                  <a:pt x="7807" y="3665"/>
                  <a:pt x="8428" y="3487"/>
                  <a:pt x="8932" y="3405"/>
                </a:cubicBezTo>
                <a:cubicBezTo>
                  <a:pt x="9185" y="3364"/>
                  <a:pt x="9412" y="3345"/>
                  <a:pt x="9569" y="335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7" name="International Institute of Information Technology, Naya Raipur"/>
          <p:cNvSpPr txBox="1"/>
          <p:nvPr/>
        </p:nvSpPr>
        <p:spPr>
          <a:xfrm>
            <a:off x="1614963" y="4782820"/>
            <a:ext cx="591407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58" name="Shape 1"/>
          <p:cNvSpPr/>
          <p:nvPr/>
        </p:nvSpPr>
        <p:spPr>
          <a:xfrm>
            <a:off x="320040" y="131264"/>
            <a:ext cx="54866" cy="502922"/>
          </a:xfrm>
          <a:prstGeom prst="rect">
            <a:avLst/>
          </a:prstGeom>
          <a:solidFill>
            <a:srgbClr val="1B2A7B"/>
          </a:solidFill>
          <a:ln w="12700">
            <a:solidFill>
              <a:srgbClr val="1B2A7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" name="Shape 3"/>
          <p:cNvSpPr/>
          <p:nvPr/>
        </p:nvSpPr>
        <p:spPr>
          <a:xfrm>
            <a:off x="320039" y="704088"/>
            <a:ext cx="7795750" cy="33744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"/>
          <p:cNvSpPr txBox="1"/>
          <p:nvPr/>
        </p:nvSpPr>
        <p:spPr>
          <a:xfrm>
            <a:off x="8275319" y="4822751"/>
            <a:ext cx="6858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3" name="Text 4"/>
          <p:cNvSpPr txBox="1"/>
          <p:nvPr/>
        </p:nvSpPr>
        <p:spPr>
          <a:xfrm>
            <a:off x="411479" y="163139"/>
            <a:ext cx="7863842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F2473"/>
                </a:solidFill>
              </a:defRPr>
            </a:lvl1pPr>
          </a:lstStyle>
          <a:p>
            <a:pPr/>
            <a:r>
              <a:t>5-Agent Layered Blackboard System</a:t>
            </a:r>
          </a:p>
        </p:txBody>
      </p:sp>
      <p:sp>
        <p:nvSpPr>
          <p:cNvPr id="64" name="Text 6"/>
          <p:cNvSpPr txBox="1"/>
          <p:nvPr/>
        </p:nvSpPr>
        <p:spPr>
          <a:xfrm>
            <a:off x="411479" y="876739"/>
            <a:ext cx="786384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7474F"/>
                </a:solidFill>
              </a:defRPr>
            </a:lvl1pPr>
          </a:lstStyle>
          <a:p>
            <a:pPr/>
            <a:r>
              <a:t>All agents communicate exclusively via shared blackboard — zero direct agent-to-agent calls</a:t>
            </a:r>
          </a:p>
        </p:txBody>
      </p:sp>
      <p:sp>
        <p:nvSpPr>
          <p:cNvPr id="65" name="Shape 7"/>
          <p:cNvSpPr/>
          <p:nvPr/>
        </p:nvSpPr>
        <p:spPr>
          <a:xfrm>
            <a:off x="365760" y="1318767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Shape 8"/>
          <p:cNvSpPr/>
          <p:nvPr/>
        </p:nvSpPr>
        <p:spPr>
          <a:xfrm>
            <a:off x="365759" y="1318767"/>
            <a:ext cx="402337" cy="475488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9"/>
          <p:cNvSpPr txBox="1"/>
          <p:nvPr/>
        </p:nvSpPr>
        <p:spPr>
          <a:xfrm>
            <a:off x="411479" y="1416111"/>
            <a:ext cx="31089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8" name="Text 10"/>
          <p:cNvSpPr txBox="1"/>
          <p:nvPr/>
        </p:nvSpPr>
        <p:spPr>
          <a:xfrm>
            <a:off x="914399" y="1340919"/>
            <a:ext cx="4526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F2473"/>
                </a:solidFill>
              </a:defRPr>
            </a:lvl1pPr>
          </a:lstStyle>
          <a:p>
            <a:pPr/>
            <a:r>
              <a:t>Orchestrator</a:t>
            </a:r>
          </a:p>
        </p:txBody>
      </p:sp>
      <p:sp>
        <p:nvSpPr>
          <p:cNvPr id="69" name="Text 11"/>
          <p:cNvSpPr txBox="1"/>
          <p:nvPr/>
        </p:nvSpPr>
        <p:spPr>
          <a:xfrm>
            <a:off x="914399" y="1561128"/>
            <a:ext cx="45262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Controls pipeline, routes messages, maintains message log</a:t>
            </a:r>
          </a:p>
        </p:txBody>
      </p:sp>
      <p:sp>
        <p:nvSpPr>
          <p:cNvPr id="70" name="Shape 12"/>
          <p:cNvSpPr/>
          <p:nvPr/>
        </p:nvSpPr>
        <p:spPr>
          <a:xfrm>
            <a:off x="365760" y="1844548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13"/>
          <p:cNvSpPr/>
          <p:nvPr/>
        </p:nvSpPr>
        <p:spPr>
          <a:xfrm>
            <a:off x="365759" y="1844548"/>
            <a:ext cx="402337" cy="475488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14"/>
          <p:cNvSpPr txBox="1"/>
          <p:nvPr/>
        </p:nvSpPr>
        <p:spPr>
          <a:xfrm>
            <a:off x="411479" y="1941892"/>
            <a:ext cx="31089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3" name="Text 15"/>
          <p:cNvSpPr txBox="1"/>
          <p:nvPr/>
        </p:nvSpPr>
        <p:spPr>
          <a:xfrm>
            <a:off x="914399" y="1866699"/>
            <a:ext cx="4526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F2473"/>
                </a:solidFill>
              </a:defRPr>
            </a:lvl1pPr>
          </a:lstStyle>
          <a:p>
            <a:pPr/>
            <a:r>
              <a:t>Preprocessing Agent</a:t>
            </a:r>
          </a:p>
        </p:txBody>
      </p:sp>
      <p:sp>
        <p:nvSpPr>
          <p:cNvPr id="74" name="Text 16"/>
          <p:cNvSpPr txBox="1"/>
          <p:nvPr/>
        </p:nvSpPr>
        <p:spPr>
          <a:xfrm>
            <a:off x="914399" y="2086908"/>
            <a:ext cx="45262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Parses natural-language query, builds structured ReAct prompt</a:t>
            </a:r>
          </a:p>
        </p:txBody>
      </p:sp>
      <p:sp>
        <p:nvSpPr>
          <p:cNvPr id="75" name="Shape 17"/>
          <p:cNvSpPr/>
          <p:nvPr/>
        </p:nvSpPr>
        <p:spPr>
          <a:xfrm>
            <a:off x="365760" y="2370327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Shape 18"/>
          <p:cNvSpPr/>
          <p:nvPr/>
        </p:nvSpPr>
        <p:spPr>
          <a:xfrm>
            <a:off x="365759" y="2370327"/>
            <a:ext cx="402337" cy="475488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9"/>
          <p:cNvSpPr txBox="1"/>
          <p:nvPr/>
        </p:nvSpPr>
        <p:spPr>
          <a:xfrm>
            <a:off x="411479" y="2467672"/>
            <a:ext cx="310897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" name="Text 20"/>
          <p:cNvSpPr txBox="1"/>
          <p:nvPr/>
        </p:nvSpPr>
        <p:spPr>
          <a:xfrm>
            <a:off x="914399" y="2392479"/>
            <a:ext cx="4526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F2473"/>
                </a:solidFill>
              </a:defRPr>
            </a:lvl1pPr>
          </a:lstStyle>
          <a:p>
            <a:pPr/>
            <a:r>
              <a:t>Reasoning Agent</a:t>
            </a:r>
          </a:p>
        </p:txBody>
      </p:sp>
      <p:sp>
        <p:nvSpPr>
          <p:cNvPr id="79" name="Text 21"/>
          <p:cNvSpPr txBox="1"/>
          <p:nvPr/>
        </p:nvSpPr>
        <p:spPr>
          <a:xfrm>
            <a:off x="914399" y="2612688"/>
            <a:ext cx="45262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Calls LLM backend (Ollama / Groq / HF), returns log-probs</a:t>
            </a:r>
          </a:p>
        </p:txBody>
      </p:sp>
      <p:sp>
        <p:nvSpPr>
          <p:cNvPr id="80" name="Shape 22"/>
          <p:cNvSpPr/>
          <p:nvPr/>
        </p:nvSpPr>
        <p:spPr>
          <a:xfrm>
            <a:off x="365760" y="2896107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23"/>
          <p:cNvSpPr/>
          <p:nvPr/>
        </p:nvSpPr>
        <p:spPr>
          <a:xfrm>
            <a:off x="365759" y="2896107"/>
            <a:ext cx="402337" cy="475488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24"/>
          <p:cNvSpPr txBox="1"/>
          <p:nvPr/>
        </p:nvSpPr>
        <p:spPr>
          <a:xfrm>
            <a:off x="411479" y="2993451"/>
            <a:ext cx="31089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3" name="Text 25"/>
          <p:cNvSpPr txBox="1"/>
          <p:nvPr/>
        </p:nvSpPr>
        <p:spPr>
          <a:xfrm>
            <a:off x="914399" y="2918259"/>
            <a:ext cx="4526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F2473"/>
                </a:solidFill>
              </a:defRPr>
            </a:lvl1pPr>
          </a:lstStyle>
          <a:p>
            <a:pPr/>
            <a:r>
              <a:t>Uncertainty Agent</a:t>
            </a:r>
          </a:p>
        </p:txBody>
      </p:sp>
      <p:sp>
        <p:nvSpPr>
          <p:cNvPr id="84" name="Text 26"/>
          <p:cNvSpPr txBox="1"/>
          <p:nvPr/>
        </p:nvSpPr>
        <p:spPr>
          <a:xfrm>
            <a:off x="914399" y="3138468"/>
            <a:ext cx="45262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Applies VIB layer to produce calibrated σ uncertainty signal</a:t>
            </a:r>
          </a:p>
        </p:txBody>
      </p:sp>
      <p:sp>
        <p:nvSpPr>
          <p:cNvPr id="85" name="Shape 27"/>
          <p:cNvSpPr/>
          <p:nvPr/>
        </p:nvSpPr>
        <p:spPr>
          <a:xfrm>
            <a:off x="365760" y="3421888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28"/>
          <p:cNvSpPr/>
          <p:nvPr/>
        </p:nvSpPr>
        <p:spPr>
          <a:xfrm>
            <a:off x="365759" y="3421888"/>
            <a:ext cx="402337" cy="475488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29"/>
          <p:cNvSpPr txBox="1"/>
          <p:nvPr/>
        </p:nvSpPr>
        <p:spPr>
          <a:xfrm>
            <a:off x="411479" y="3519232"/>
            <a:ext cx="31089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8" name="Text 30"/>
          <p:cNvSpPr txBox="1"/>
          <p:nvPr/>
        </p:nvSpPr>
        <p:spPr>
          <a:xfrm>
            <a:off x="914399" y="3444039"/>
            <a:ext cx="4526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F2473"/>
                </a:solidFill>
              </a:defRPr>
            </a:lvl1pPr>
          </a:lstStyle>
          <a:p>
            <a:pPr/>
            <a:r>
              <a:t>Calibration Agent</a:t>
            </a:r>
          </a:p>
        </p:txBody>
      </p:sp>
      <p:sp>
        <p:nvSpPr>
          <p:cNvPr id="89" name="Text 31"/>
          <p:cNvSpPr txBox="1"/>
          <p:nvPr/>
        </p:nvSpPr>
        <p:spPr>
          <a:xfrm>
            <a:off x="914399" y="3664248"/>
            <a:ext cx="45262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Computes ECE, AUROC, rolling calibration history</a:t>
            </a:r>
          </a:p>
        </p:txBody>
      </p:sp>
      <p:sp>
        <p:nvSpPr>
          <p:cNvPr id="90" name="Shape 32"/>
          <p:cNvSpPr/>
          <p:nvPr/>
        </p:nvSpPr>
        <p:spPr>
          <a:xfrm>
            <a:off x="365760" y="3947667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33"/>
          <p:cNvSpPr/>
          <p:nvPr/>
        </p:nvSpPr>
        <p:spPr>
          <a:xfrm>
            <a:off x="365759" y="3947667"/>
            <a:ext cx="402337" cy="475488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34"/>
          <p:cNvSpPr txBox="1"/>
          <p:nvPr/>
        </p:nvSpPr>
        <p:spPr>
          <a:xfrm>
            <a:off x="411479" y="4045011"/>
            <a:ext cx="310897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3" name="Text 35"/>
          <p:cNvSpPr txBox="1"/>
          <p:nvPr/>
        </p:nvSpPr>
        <p:spPr>
          <a:xfrm>
            <a:off x="914399" y="3969819"/>
            <a:ext cx="4526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F2473"/>
                </a:solidFill>
              </a:defRPr>
            </a:lvl1pPr>
          </a:lstStyle>
          <a:p>
            <a:pPr/>
            <a:r>
              <a:t>POMDP Agent</a:t>
            </a:r>
          </a:p>
        </p:txBody>
      </p:sp>
      <p:sp>
        <p:nvSpPr>
          <p:cNvPr id="94" name="Text 36"/>
          <p:cNvSpPr txBox="1"/>
          <p:nvPr/>
        </p:nvSpPr>
        <p:spPr>
          <a:xfrm>
            <a:off x="914399" y="4190028"/>
            <a:ext cx="45262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Reads σ + confidence → ANSWER / SEEK_INFO / DEFER</a:t>
            </a:r>
          </a:p>
        </p:txBody>
      </p:sp>
      <p:sp>
        <p:nvSpPr>
          <p:cNvPr id="95" name="Shape 37"/>
          <p:cNvSpPr/>
          <p:nvPr/>
        </p:nvSpPr>
        <p:spPr>
          <a:xfrm>
            <a:off x="5760720" y="1318767"/>
            <a:ext cx="3063241" cy="315468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>
                <a:satOff val="-3547"/>
                <a:lumOff val="-10352"/>
              </a:schemeClr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" name="Shape 38"/>
          <p:cNvSpPr/>
          <p:nvPr/>
        </p:nvSpPr>
        <p:spPr>
          <a:xfrm>
            <a:off x="5760720" y="1318767"/>
            <a:ext cx="3063241" cy="365761"/>
          </a:xfrm>
          <a:prstGeom prst="rect">
            <a:avLst/>
          </a:prstGeom>
          <a:solidFill>
            <a:srgbClr val="0F247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39"/>
          <p:cNvSpPr txBox="1"/>
          <p:nvPr/>
        </p:nvSpPr>
        <p:spPr>
          <a:xfrm>
            <a:off x="5806440" y="1377495"/>
            <a:ext cx="29718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200" sz="1200">
                <a:solidFill>
                  <a:srgbClr val="FFFFFF"/>
                </a:solidFill>
              </a:defRPr>
            </a:lvl1pPr>
          </a:lstStyle>
          <a:p>
            <a:pPr/>
            <a:r>
              <a:t>BLACKBOARD</a:t>
            </a:r>
          </a:p>
        </p:txBody>
      </p:sp>
      <p:sp>
        <p:nvSpPr>
          <p:cNvPr id="98" name="Shape 40"/>
          <p:cNvSpPr/>
          <p:nvPr/>
        </p:nvSpPr>
        <p:spPr>
          <a:xfrm>
            <a:off x="5806440" y="1739392"/>
            <a:ext cx="457201" cy="329185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41"/>
          <p:cNvSpPr txBox="1"/>
          <p:nvPr/>
        </p:nvSpPr>
        <p:spPr>
          <a:xfrm>
            <a:off x="5852160" y="1801027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L0</a:t>
            </a:r>
          </a:p>
        </p:txBody>
      </p:sp>
      <p:sp>
        <p:nvSpPr>
          <p:cNvPr id="100" name="Text 42"/>
          <p:cNvSpPr txBox="1"/>
          <p:nvPr/>
        </p:nvSpPr>
        <p:spPr>
          <a:xfrm>
            <a:off x="6355079" y="1797557"/>
            <a:ext cx="2331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query, ground_truth</a:t>
            </a:r>
          </a:p>
        </p:txBody>
      </p:sp>
      <p:sp>
        <p:nvSpPr>
          <p:cNvPr id="101" name="Shape 43"/>
          <p:cNvSpPr/>
          <p:nvPr/>
        </p:nvSpPr>
        <p:spPr>
          <a:xfrm>
            <a:off x="5806440" y="2169160"/>
            <a:ext cx="457201" cy="329185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44"/>
          <p:cNvSpPr txBox="1"/>
          <p:nvPr/>
        </p:nvSpPr>
        <p:spPr>
          <a:xfrm>
            <a:off x="5852160" y="2230795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L1</a:t>
            </a:r>
          </a:p>
        </p:txBody>
      </p:sp>
      <p:sp>
        <p:nvSpPr>
          <p:cNvPr id="103" name="Text 45"/>
          <p:cNvSpPr txBox="1"/>
          <p:nvPr/>
        </p:nvSpPr>
        <p:spPr>
          <a:xfrm>
            <a:off x="6355079" y="2227325"/>
            <a:ext cx="2331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prompt, parsed_choices</a:t>
            </a:r>
          </a:p>
        </p:txBody>
      </p:sp>
      <p:sp>
        <p:nvSpPr>
          <p:cNvPr id="104" name="Shape 46"/>
          <p:cNvSpPr/>
          <p:nvPr/>
        </p:nvSpPr>
        <p:spPr>
          <a:xfrm>
            <a:off x="5806440" y="2598927"/>
            <a:ext cx="457201" cy="329185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47"/>
          <p:cNvSpPr txBox="1"/>
          <p:nvPr/>
        </p:nvSpPr>
        <p:spPr>
          <a:xfrm>
            <a:off x="5852160" y="2660563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L2</a:t>
            </a:r>
          </a:p>
        </p:txBody>
      </p:sp>
      <p:sp>
        <p:nvSpPr>
          <p:cNvPr id="106" name="Text 48"/>
          <p:cNvSpPr txBox="1"/>
          <p:nvPr/>
        </p:nvSpPr>
        <p:spPr>
          <a:xfrm>
            <a:off x="6355079" y="2657094"/>
            <a:ext cx="2331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predicted, confidence, log_probs</a:t>
            </a:r>
          </a:p>
        </p:txBody>
      </p:sp>
      <p:sp>
        <p:nvSpPr>
          <p:cNvPr id="107" name="Shape 49"/>
          <p:cNvSpPr/>
          <p:nvPr/>
        </p:nvSpPr>
        <p:spPr>
          <a:xfrm>
            <a:off x="5806440" y="3028696"/>
            <a:ext cx="457201" cy="329185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50"/>
          <p:cNvSpPr txBox="1"/>
          <p:nvPr/>
        </p:nvSpPr>
        <p:spPr>
          <a:xfrm>
            <a:off x="5852160" y="3090331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L3</a:t>
            </a:r>
          </a:p>
        </p:txBody>
      </p:sp>
      <p:sp>
        <p:nvSpPr>
          <p:cNvPr id="109" name="Text 51"/>
          <p:cNvSpPr txBox="1"/>
          <p:nvPr/>
        </p:nvSpPr>
        <p:spPr>
          <a:xfrm>
            <a:off x="6355079" y="3086861"/>
            <a:ext cx="2331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σ (sigma), uq_method</a:t>
            </a:r>
          </a:p>
        </p:txBody>
      </p:sp>
      <p:sp>
        <p:nvSpPr>
          <p:cNvPr id="110" name="Shape 52"/>
          <p:cNvSpPr/>
          <p:nvPr/>
        </p:nvSpPr>
        <p:spPr>
          <a:xfrm>
            <a:off x="5806440" y="3458464"/>
            <a:ext cx="457201" cy="329185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53"/>
          <p:cNvSpPr txBox="1"/>
          <p:nvPr/>
        </p:nvSpPr>
        <p:spPr>
          <a:xfrm>
            <a:off x="5852160" y="3520099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L4</a:t>
            </a:r>
          </a:p>
        </p:txBody>
      </p:sp>
      <p:sp>
        <p:nvSpPr>
          <p:cNvPr id="112" name="Text 54"/>
          <p:cNvSpPr txBox="1"/>
          <p:nvPr/>
        </p:nvSpPr>
        <p:spPr>
          <a:xfrm>
            <a:off x="6355079" y="3516630"/>
            <a:ext cx="2331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ece, auroc, calibration_gap</a:t>
            </a:r>
          </a:p>
        </p:txBody>
      </p:sp>
      <p:sp>
        <p:nvSpPr>
          <p:cNvPr id="113" name="Shape 55"/>
          <p:cNvSpPr/>
          <p:nvPr/>
        </p:nvSpPr>
        <p:spPr>
          <a:xfrm>
            <a:off x="5806440" y="3888232"/>
            <a:ext cx="457201" cy="329185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56"/>
          <p:cNvSpPr txBox="1"/>
          <p:nvPr/>
        </p:nvSpPr>
        <p:spPr>
          <a:xfrm>
            <a:off x="5852160" y="3949867"/>
            <a:ext cx="36576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L5</a:t>
            </a:r>
          </a:p>
        </p:txBody>
      </p:sp>
      <p:sp>
        <p:nvSpPr>
          <p:cNvPr id="115" name="Text 57"/>
          <p:cNvSpPr txBox="1"/>
          <p:nvPr/>
        </p:nvSpPr>
        <p:spPr>
          <a:xfrm>
            <a:off x="6355079" y="3946398"/>
            <a:ext cx="23317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pomdp_action, belief_state</a:t>
            </a:r>
          </a:p>
        </p:txBody>
      </p:sp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22" t="22155" r="1475" b="7642"/>
          <a:stretch>
            <a:fillRect/>
          </a:stretch>
        </p:blipFill>
        <p:spPr>
          <a:xfrm>
            <a:off x="8111138" y="66252"/>
            <a:ext cx="895347" cy="745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7" h="21560" fill="norm" stroke="1" extrusionOk="0">
                <a:moveTo>
                  <a:pt x="10698" y="19"/>
                </a:moveTo>
                <a:cubicBezTo>
                  <a:pt x="9739" y="-38"/>
                  <a:pt x="8773" y="36"/>
                  <a:pt x="7947" y="226"/>
                </a:cubicBezTo>
                <a:cubicBezTo>
                  <a:pt x="6592" y="538"/>
                  <a:pt x="4659" y="1505"/>
                  <a:pt x="3582" y="2441"/>
                </a:cubicBezTo>
                <a:cubicBezTo>
                  <a:pt x="1996" y="3819"/>
                  <a:pt x="610" y="6270"/>
                  <a:pt x="177" y="8443"/>
                </a:cubicBezTo>
                <a:cubicBezTo>
                  <a:pt x="-142" y="10043"/>
                  <a:pt x="-15" y="12635"/>
                  <a:pt x="446" y="14066"/>
                </a:cubicBezTo>
                <a:cubicBezTo>
                  <a:pt x="1670" y="17861"/>
                  <a:pt x="4971" y="20896"/>
                  <a:pt x="8493" y="21434"/>
                </a:cubicBezTo>
                <a:cubicBezTo>
                  <a:pt x="9080" y="21523"/>
                  <a:pt x="9449" y="21558"/>
                  <a:pt x="9846" y="21560"/>
                </a:cubicBezTo>
                <a:cubicBezTo>
                  <a:pt x="10243" y="21562"/>
                  <a:pt x="10661" y="21529"/>
                  <a:pt x="11343" y="21445"/>
                </a:cubicBezTo>
                <a:cubicBezTo>
                  <a:pt x="15089" y="20989"/>
                  <a:pt x="18485" y="18052"/>
                  <a:pt x="19686" y="14215"/>
                </a:cubicBezTo>
                <a:cubicBezTo>
                  <a:pt x="21458" y="8559"/>
                  <a:pt x="18656" y="2496"/>
                  <a:pt x="13368" y="535"/>
                </a:cubicBezTo>
                <a:cubicBezTo>
                  <a:pt x="12600" y="250"/>
                  <a:pt x="11656" y="76"/>
                  <a:pt x="10698" y="19"/>
                </a:cubicBezTo>
                <a:close/>
                <a:moveTo>
                  <a:pt x="9569" y="3359"/>
                </a:moveTo>
                <a:cubicBezTo>
                  <a:pt x="9725" y="3372"/>
                  <a:pt x="9808" y="3420"/>
                  <a:pt x="9784" y="3496"/>
                </a:cubicBezTo>
                <a:cubicBezTo>
                  <a:pt x="9724" y="3689"/>
                  <a:pt x="9661" y="3719"/>
                  <a:pt x="8852" y="4105"/>
                </a:cubicBezTo>
                <a:cubicBezTo>
                  <a:pt x="8590" y="4230"/>
                  <a:pt x="8198" y="4467"/>
                  <a:pt x="7973" y="4621"/>
                </a:cubicBezTo>
                <a:cubicBezTo>
                  <a:pt x="7533" y="4923"/>
                  <a:pt x="7319" y="4882"/>
                  <a:pt x="6943" y="4483"/>
                </a:cubicBezTo>
                <a:cubicBezTo>
                  <a:pt x="6713" y="4238"/>
                  <a:pt x="6730" y="4221"/>
                  <a:pt x="7400" y="3875"/>
                </a:cubicBezTo>
                <a:cubicBezTo>
                  <a:pt x="7807" y="3665"/>
                  <a:pt x="8428" y="3487"/>
                  <a:pt x="8932" y="3405"/>
                </a:cubicBezTo>
                <a:cubicBezTo>
                  <a:pt x="9185" y="3364"/>
                  <a:pt x="9412" y="3345"/>
                  <a:pt x="9569" y="335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17" name="International Institute of Information Technology, Naya Raipur"/>
          <p:cNvSpPr txBox="1"/>
          <p:nvPr/>
        </p:nvSpPr>
        <p:spPr>
          <a:xfrm>
            <a:off x="1614963" y="4782820"/>
            <a:ext cx="591407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118" name="Shape 1"/>
          <p:cNvSpPr/>
          <p:nvPr/>
        </p:nvSpPr>
        <p:spPr>
          <a:xfrm>
            <a:off x="320040" y="164590"/>
            <a:ext cx="54866" cy="502922"/>
          </a:xfrm>
          <a:prstGeom prst="rect">
            <a:avLst/>
          </a:prstGeom>
          <a:solidFill>
            <a:srgbClr val="1B2A7B"/>
          </a:solidFill>
          <a:ln w="12700">
            <a:solidFill>
              <a:srgbClr val="1B2A7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" name="Shape 3"/>
          <p:cNvSpPr/>
          <p:nvPr/>
        </p:nvSpPr>
        <p:spPr>
          <a:xfrm>
            <a:off x="320039" y="704088"/>
            <a:ext cx="7795750" cy="33744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"/>
          <p:cNvSpPr txBox="1"/>
          <p:nvPr/>
        </p:nvSpPr>
        <p:spPr>
          <a:xfrm>
            <a:off x="8275319" y="4822751"/>
            <a:ext cx="6858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3" name="Text 4"/>
          <p:cNvSpPr txBox="1"/>
          <p:nvPr/>
        </p:nvSpPr>
        <p:spPr>
          <a:xfrm>
            <a:off x="411479" y="194070"/>
            <a:ext cx="7863842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F2473"/>
                </a:solidFill>
              </a:defRPr>
            </a:lvl1pPr>
          </a:lstStyle>
          <a:p>
            <a:pPr/>
            <a:r>
              <a:t>POMDP: When Should the Agent Answer?</a:t>
            </a:r>
          </a:p>
        </p:txBody>
      </p:sp>
      <p:sp>
        <p:nvSpPr>
          <p:cNvPr id="124" name="Text 6"/>
          <p:cNvSpPr txBox="1"/>
          <p:nvPr/>
        </p:nvSpPr>
        <p:spPr>
          <a:xfrm>
            <a:off x="411479" y="864039"/>
            <a:ext cx="786384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7474F"/>
                </a:solidFill>
              </a:defRPr>
            </a:lvl1pPr>
          </a:lstStyle>
          <a:p>
            <a:pPr/>
            <a:r>
              <a:t>The agent uses VIB σ as a belief state to decide when it can be trusted to act autonomously</a:t>
            </a:r>
          </a:p>
        </p:txBody>
      </p:sp>
      <p:sp>
        <p:nvSpPr>
          <p:cNvPr id="125" name="Shape 7"/>
          <p:cNvSpPr/>
          <p:nvPr/>
        </p:nvSpPr>
        <p:spPr>
          <a:xfrm>
            <a:off x="365759" y="1191767"/>
            <a:ext cx="8412482" cy="65836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8"/>
          <p:cNvSpPr txBox="1"/>
          <p:nvPr/>
        </p:nvSpPr>
        <p:spPr>
          <a:xfrm>
            <a:off x="548639" y="1391851"/>
            <a:ext cx="8138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300"/>
            </a:pPr>
            <a:r>
              <a:t>Belief State:  b(correct) = conf × 0.5  +  (1 − σ) × 0.3  +  (1 − ECE) × 0.2</a:t>
            </a:r>
            <a:r>
              <a:rPr b="0" sz="1000"/>
              <a:t>     σ is the VIB uncertainty signal from Layer 3</a:t>
            </a:r>
          </a:p>
        </p:txBody>
      </p:sp>
      <p:sp>
        <p:nvSpPr>
          <p:cNvPr id="127" name="Shape 9"/>
          <p:cNvSpPr/>
          <p:nvPr/>
        </p:nvSpPr>
        <p:spPr>
          <a:xfrm>
            <a:off x="238759" y="2123439"/>
            <a:ext cx="2788922" cy="221284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hape 10"/>
          <p:cNvSpPr/>
          <p:nvPr/>
        </p:nvSpPr>
        <p:spPr>
          <a:xfrm>
            <a:off x="238759" y="2123439"/>
            <a:ext cx="2788922" cy="384049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1"/>
          <p:cNvSpPr txBox="1"/>
          <p:nvPr/>
        </p:nvSpPr>
        <p:spPr>
          <a:xfrm>
            <a:off x="284479" y="2158321"/>
            <a:ext cx="2697482" cy="314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ANSWER</a:t>
            </a:r>
          </a:p>
        </p:txBody>
      </p:sp>
      <p:sp>
        <p:nvSpPr>
          <p:cNvPr id="130" name="Shape 12"/>
          <p:cNvSpPr/>
          <p:nvPr/>
        </p:nvSpPr>
        <p:spPr>
          <a:xfrm>
            <a:off x="375919" y="2562351"/>
            <a:ext cx="2514601" cy="32918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13"/>
          <p:cNvSpPr txBox="1"/>
          <p:nvPr/>
        </p:nvSpPr>
        <p:spPr>
          <a:xfrm>
            <a:off x="449071" y="2597957"/>
            <a:ext cx="2377442" cy="257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F247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σ &lt; 0.25  AND  conf &gt; 0.65</a:t>
            </a:r>
          </a:p>
        </p:txBody>
      </p:sp>
      <p:sp>
        <p:nvSpPr>
          <p:cNvPr id="132" name="Text 14"/>
          <p:cNvSpPr txBox="1"/>
          <p:nvPr/>
        </p:nvSpPr>
        <p:spPr>
          <a:xfrm>
            <a:off x="421639" y="3005118"/>
            <a:ext cx="242316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Belief state is narrow. The agent is sufficiently certain. Provide prediction directly to the insurance underwriter with confidence score.</a:t>
            </a:r>
          </a:p>
        </p:txBody>
      </p:sp>
      <p:sp>
        <p:nvSpPr>
          <p:cNvPr id="133" name="Shape 15"/>
          <p:cNvSpPr/>
          <p:nvPr/>
        </p:nvSpPr>
        <p:spPr>
          <a:xfrm>
            <a:off x="238759" y="4061967"/>
            <a:ext cx="2788922" cy="2743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6"/>
          <p:cNvSpPr txBox="1"/>
          <p:nvPr/>
        </p:nvSpPr>
        <p:spPr>
          <a:xfrm>
            <a:off x="284479" y="4096171"/>
            <a:ext cx="26974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Triggered 58% of queries  |  Accuracy: 89%</a:t>
            </a:r>
          </a:p>
        </p:txBody>
      </p:sp>
      <p:sp>
        <p:nvSpPr>
          <p:cNvPr id="135" name="Shape 17"/>
          <p:cNvSpPr/>
          <p:nvPr/>
        </p:nvSpPr>
        <p:spPr>
          <a:xfrm>
            <a:off x="3183128" y="2123439"/>
            <a:ext cx="2788921" cy="221284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18"/>
          <p:cNvSpPr/>
          <p:nvPr/>
        </p:nvSpPr>
        <p:spPr>
          <a:xfrm>
            <a:off x="3183128" y="2123439"/>
            <a:ext cx="2788921" cy="384049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19"/>
          <p:cNvSpPr txBox="1"/>
          <p:nvPr/>
        </p:nvSpPr>
        <p:spPr>
          <a:xfrm>
            <a:off x="3228848" y="2175064"/>
            <a:ext cx="26974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?  SEEK INFO</a:t>
            </a:r>
          </a:p>
        </p:txBody>
      </p:sp>
      <p:sp>
        <p:nvSpPr>
          <p:cNvPr id="138" name="Shape 20"/>
          <p:cNvSpPr/>
          <p:nvPr/>
        </p:nvSpPr>
        <p:spPr>
          <a:xfrm>
            <a:off x="3320288" y="2562351"/>
            <a:ext cx="2514601" cy="32918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21"/>
          <p:cNvSpPr txBox="1"/>
          <p:nvPr/>
        </p:nvSpPr>
        <p:spPr>
          <a:xfrm>
            <a:off x="3393440" y="2597957"/>
            <a:ext cx="2377441" cy="257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F247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0.25 ≤ σ &lt; 0.55</a:t>
            </a:r>
          </a:p>
        </p:txBody>
      </p:sp>
      <p:sp>
        <p:nvSpPr>
          <p:cNvPr id="140" name="Text 22"/>
          <p:cNvSpPr txBox="1"/>
          <p:nvPr/>
        </p:nvSpPr>
        <p:spPr>
          <a:xfrm>
            <a:off x="3366008" y="3005118"/>
            <a:ext cx="242316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Belief state is moderately diffuse. Request additional data before deciding — claims history, medical records, or additional policy documents.</a:t>
            </a:r>
          </a:p>
        </p:txBody>
      </p:sp>
      <p:sp>
        <p:nvSpPr>
          <p:cNvPr id="141" name="Shape 23"/>
          <p:cNvSpPr/>
          <p:nvPr/>
        </p:nvSpPr>
        <p:spPr>
          <a:xfrm>
            <a:off x="3183128" y="4061967"/>
            <a:ext cx="2788921" cy="2743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24"/>
          <p:cNvSpPr txBox="1"/>
          <p:nvPr/>
        </p:nvSpPr>
        <p:spPr>
          <a:xfrm>
            <a:off x="3228848" y="4096171"/>
            <a:ext cx="2697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Triggered 28% of queries  |  Accuracy: 62%</a:t>
            </a:r>
          </a:p>
        </p:txBody>
      </p:sp>
      <p:sp>
        <p:nvSpPr>
          <p:cNvPr id="143" name="Shape 25"/>
          <p:cNvSpPr/>
          <p:nvPr/>
        </p:nvSpPr>
        <p:spPr>
          <a:xfrm>
            <a:off x="6127496" y="2123439"/>
            <a:ext cx="2788921" cy="221284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26"/>
          <p:cNvSpPr/>
          <p:nvPr/>
        </p:nvSpPr>
        <p:spPr>
          <a:xfrm>
            <a:off x="6127496" y="2123439"/>
            <a:ext cx="2788921" cy="384049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27"/>
          <p:cNvSpPr txBox="1"/>
          <p:nvPr/>
        </p:nvSpPr>
        <p:spPr>
          <a:xfrm>
            <a:off x="6173216" y="2175064"/>
            <a:ext cx="26974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→  DEFER</a:t>
            </a:r>
          </a:p>
        </p:txBody>
      </p:sp>
      <p:sp>
        <p:nvSpPr>
          <p:cNvPr id="146" name="Shape 28"/>
          <p:cNvSpPr/>
          <p:nvPr/>
        </p:nvSpPr>
        <p:spPr>
          <a:xfrm>
            <a:off x="6264655" y="2562351"/>
            <a:ext cx="2514601" cy="32918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9"/>
          <p:cNvSpPr txBox="1"/>
          <p:nvPr/>
        </p:nvSpPr>
        <p:spPr>
          <a:xfrm>
            <a:off x="6337807" y="2597957"/>
            <a:ext cx="2377442" cy="257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0F247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σ ≥ 0.55</a:t>
            </a:r>
          </a:p>
        </p:txBody>
      </p:sp>
      <p:sp>
        <p:nvSpPr>
          <p:cNvPr id="148" name="Text 30"/>
          <p:cNvSpPr txBox="1"/>
          <p:nvPr/>
        </p:nvSpPr>
        <p:spPr>
          <a:xfrm>
            <a:off x="6310375" y="3005118"/>
            <a:ext cx="242316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Belief state too wide. VIB σ is too high — uncertainty exceeds the safe threshold. Escalate to senior human underwriter. Do not act automatically.</a:t>
            </a:r>
          </a:p>
        </p:txBody>
      </p:sp>
      <p:sp>
        <p:nvSpPr>
          <p:cNvPr id="149" name="Shape 31"/>
          <p:cNvSpPr/>
          <p:nvPr/>
        </p:nvSpPr>
        <p:spPr>
          <a:xfrm>
            <a:off x="6127496" y="4061967"/>
            <a:ext cx="2788921" cy="2743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32"/>
          <p:cNvSpPr txBox="1"/>
          <p:nvPr/>
        </p:nvSpPr>
        <p:spPr>
          <a:xfrm>
            <a:off x="6173216" y="4026321"/>
            <a:ext cx="269748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Triggered 14% of queries  |  Accuracy: 31% ← correctly deferred</a:t>
            </a:r>
          </a:p>
        </p:txBody>
      </p:sp>
      <p:pic>
        <p:nvPicPr>
          <p:cNvPr id="15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22" t="22155" r="1475" b="7642"/>
          <a:stretch>
            <a:fillRect/>
          </a:stretch>
        </p:blipFill>
        <p:spPr>
          <a:xfrm>
            <a:off x="8111138" y="66252"/>
            <a:ext cx="895347" cy="745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7" h="21560" fill="norm" stroke="1" extrusionOk="0">
                <a:moveTo>
                  <a:pt x="10698" y="19"/>
                </a:moveTo>
                <a:cubicBezTo>
                  <a:pt x="9739" y="-38"/>
                  <a:pt x="8773" y="36"/>
                  <a:pt x="7947" y="226"/>
                </a:cubicBezTo>
                <a:cubicBezTo>
                  <a:pt x="6592" y="538"/>
                  <a:pt x="4659" y="1505"/>
                  <a:pt x="3582" y="2441"/>
                </a:cubicBezTo>
                <a:cubicBezTo>
                  <a:pt x="1996" y="3819"/>
                  <a:pt x="610" y="6270"/>
                  <a:pt x="177" y="8443"/>
                </a:cubicBezTo>
                <a:cubicBezTo>
                  <a:pt x="-142" y="10043"/>
                  <a:pt x="-15" y="12635"/>
                  <a:pt x="446" y="14066"/>
                </a:cubicBezTo>
                <a:cubicBezTo>
                  <a:pt x="1670" y="17861"/>
                  <a:pt x="4971" y="20896"/>
                  <a:pt x="8493" y="21434"/>
                </a:cubicBezTo>
                <a:cubicBezTo>
                  <a:pt x="9080" y="21523"/>
                  <a:pt x="9449" y="21558"/>
                  <a:pt x="9846" y="21560"/>
                </a:cubicBezTo>
                <a:cubicBezTo>
                  <a:pt x="10243" y="21562"/>
                  <a:pt x="10661" y="21529"/>
                  <a:pt x="11343" y="21445"/>
                </a:cubicBezTo>
                <a:cubicBezTo>
                  <a:pt x="15089" y="20989"/>
                  <a:pt x="18485" y="18052"/>
                  <a:pt x="19686" y="14215"/>
                </a:cubicBezTo>
                <a:cubicBezTo>
                  <a:pt x="21458" y="8559"/>
                  <a:pt x="18656" y="2496"/>
                  <a:pt x="13368" y="535"/>
                </a:cubicBezTo>
                <a:cubicBezTo>
                  <a:pt x="12600" y="250"/>
                  <a:pt x="11656" y="76"/>
                  <a:pt x="10698" y="19"/>
                </a:cubicBezTo>
                <a:close/>
                <a:moveTo>
                  <a:pt x="9569" y="3359"/>
                </a:moveTo>
                <a:cubicBezTo>
                  <a:pt x="9725" y="3372"/>
                  <a:pt x="9808" y="3420"/>
                  <a:pt x="9784" y="3496"/>
                </a:cubicBezTo>
                <a:cubicBezTo>
                  <a:pt x="9724" y="3689"/>
                  <a:pt x="9661" y="3719"/>
                  <a:pt x="8852" y="4105"/>
                </a:cubicBezTo>
                <a:cubicBezTo>
                  <a:pt x="8590" y="4230"/>
                  <a:pt x="8198" y="4467"/>
                  <a:pt x="7973" y="4621"/>
                </a:cubicBezTo>
                <a:cubicBezTo>
                  <a:pt x="7533" y="4923"/>
                  <a:pt x="7319" y="4882"/>
                  <a:pt x="6943" y="4483"/>
                </a:cubicBezTo>
                <a:cubicBezTo>
                  <a:pt x="6713" y="4238"/>
                  <a:pt x="6730" y="4221"/>
                  <a:pt x="7400" y="3875"/>
                </a:cubicBezTo>
                <a:cubicBezTo>
                  <a:pt x="7807" y="3665"/>
                  <a:pt x="8428" y="3487"/>
                  <a:pt x="8932" y="3405"/>
                </a:cubicBezTo>
                <a:cubicBezTo>
                  <a:pt x="9185" y="3364"/>
                  <a:pt x="9412" y="3345"/>
                  <a:pt x="9569" y="335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52" name="International Institute of Information Technology, Naya Raipur"/>
          <p:cNvSpPr txBox="1"/>
          <p:nvPr/>
        </p:nvSpPr>
        <p:spPr>
          <a:xfrm>
            <a:off x="1614963" y="4782820"/>
            <a:ext cx="591407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153" name="Shape 1"/>
          <p:cNvSpPr/>
          <p:nvPr/>
        </p:nvSpPr>
        <p:spPr>
          <a:xfrm>
            <a:off x="320040" y="164590"/>
            <a:ext cx="54866" cy="502922"/>
          </a:xfrm>
          <a:prstGeom prst="rect">
            <a:avLst/>
          </a:prstGeom>
          <a:solidFill>
            <a:srgbClr val="1B2A7B"/>
          </a:solidFill>
          <a:ln w="12700">
            <a:solidFill>
              <a:srgbClr val="1B2A7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Shape 3"/>
          <p:cNvSpPr/>
          <p:nvPr/>
        </p:nvSpPr>
        <p:spPr>
          <a:xfrm>
            <a:off x="320039" y="704088"/>
            <a:ext cx="7795750" cy="33744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"/>
          <p:cNvSpPr txBox="1"/>
          <p:nvPr/>
        </p:nvSpPr>
        <p:spPr>
          <a:xfrm>
            <a:off x="8275319" y="4822751"/>
            <a:ext cx="6858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58" name="Text 4"/>
          <p:cNvSpPr txBox="1"/>
          <p:nvPr/>
        </p:nvSpPr>
        <p:spPr>
          <a:xfrm>
            <a:off x="476330" y="138189"/>
            <a:ext cx="7863842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F2473"/>
                </a:solidFill>
              </a:defRPr>
            </a:lvl1pPr>
          </a:lstStyle>
          <a:p>
            <a:pPr/>
            <a:r>
              <a:t>Structured JSON Messages</a:t>
            </a:r>
          </a:p>
        </p:txBody>
      </p:sp>
      <p:sp>
        <p:nvSpPr>
          <p:cNvPr id="159" name="Text 6"/>
          <p:cNvSpPr txBox="1"/>
          <p:nvPr/>
        </p:nvSpPr>
        <p:spPr>
          <a:xfrm>
            <a:off x="411479" y="813239"/>
            <a:ext cx="786384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7474F"/>
                </a:solidFill>
              </a:defRPr>
            </a:lvl1pPr>
          </a:lstStyle>
          <a:p>
            <a:pPr/>
            <a:r>
              <a:t>Every agent interaction is a typed, traceable message object — not raw function calls</a:t>
            </a:r>
          </a:p>
        </p:txBody>
      </p:sp>
      <p:sp>
        <p:nvSpPr>
          <p:cNvPr id="160" name="Shape 7"/>
          <p:cNvSpPr/>
          <p:nvPr/>
        </p:nvSpPr>
        <p:spPr>
          <a:xfrm>
            <a:off x="365759" y="1306067"/>
            <a:ext cx="4389122" cy="3090673"/>
          </a:xfrm>
          <a:prstGeom prst="rect">
            <a:avLst/>
          </a:prstGeom>
          <a:solidFill>
            <a:srgbClr val="F5F6FA"/>
          </a:solidFill>
          <a:ln w="19050">
            <a:solidFill>
              <a:schemeClr val="accent1">
                <a:satOff val="-3547"/>
                <a:lumOff val="-10352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Shape 8"/>
          <p:cNvSpPr/>
          <p:nvPr/>
        </p:nvSpPr>
        <p:spPr>
          <a:xfrm>
            <a:off x="365759" y="1306067"/>
            <a:ext cx="4389122" cy="347473"/>
          </a:xfrm>
          <a:prstGeom prst="rect">
            <a:avLst/>
          </a:prstGeom>
          <a:solidFill>
            <a:srgbClr val="0F247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9"/>
          <p:cNvSpPr txBox="1"/>
          <p:nvPr/>
        </p:nvSpPr>
        <p:spPr>
          <a:xfrm>
            <a:off x="411479" y="1365548"/>
            <a:ext cx="42976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100" sz="1000">
                <a:solidFill>
                  <a:srgbClr val="FFFFFF"/>
                </a:solidFill>
              </a:defRPr>
            </a:lvl1pPr>
          </a:lstStyle>
          <a:p>
            <a:pPr/>
            <a:r>
              <a:t>SAMPLE MESSAGE (REQUEST)</a:t>
            </a:r>
          </a:p>
        </p:txBody>
      </p:sp>
      <p:sp>
        <p:nvSpPr>
          <p:cNvPr id="163" name="Text 10"/>
          <p:cNvSpPr txBox="1"/>
          <p:nvPr/>
        </p:nvSpPr>
        <p:spPr>
          <a:xfrm>
            <a:off x="548639" y="1708404"/>
            <a:ext cx="4023361" cy="232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"message_type": "REQUEST",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"sender":       "orchestrator",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"receiver":     "uncertainty_agent",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"payload": {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"question":  "Is this claim suspicious?",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"choices":   ["suspicious", "not suspicious"],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"predicted": "suspicious",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"confidence": 0.847,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"log_probs": [0.847, 0.153]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},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"message_id":  "a3f7b2c1",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"timestamp":   "2026-05-16T14:22:31Z",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"status":      "PENDING",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"trace":       []</a:t>
            </a:r>
          </a:p>
          <a:p>
            <a:pPr>
              <a:defRPr sz="9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164" name="Shape 11"/>
          <p:cNvSpPr/>
          <p:nvPr/>
        </p:nvSpPr>
        <p:spPr>
          <a:xfrm>
            <a:off x="4983479" y="1306067"/>
            <a:ext cx="3840481" cy="309067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5" name="Text 12"/>
          <p:cNvSpPr txBox="1"/>
          <p:nvPr/>
        </p:nvSpPr>
        <p:spPr>
          <a:xfrm>
            <a:off x="5120640" y="1414710"/>
            <a:ext cx="3566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F2473"/>
                </a:solidFill>
              </a:defRPr>
            </a:lvl1pPr>
          </a:lstStyle>
          <a:p>
            <a:pPr/>
            <a:r>
              <a:t>Why This Design Matters</a:t>
            </a:r>
          </a:p>
        </p:txBody>
      </p:sp>
      <p:sp>
        <p:nvSpPr>
          <p:cNvPr id="166" name="Shape 13"/>
          <p:cNvSpPr/>
          <p:nvPr/>
        </p:nvSpPr>
        <p:spPr>
          <a:xfrm>
            <a:off x="5029200" y="1808988"/>
            <a:ext cx="54864" cy="201169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14"/>
          <p:cNvSpPr txBox="1"/>
          <p:nvPr/>
        </p:nvSpPr>
        <p:spPr>
          <a:xfrm>
            <a:off x="5212079" y="1787574"/>
            <a:ext cx="14630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/>
            </a:lvl1pPr>
          </a:lstStyle>
          <a:p>
            <a:pPr/>
            <a:r>
              <a:t>Full Observability — </a:t>
            </a:r>
          </a:p>
        </p:txBody>
      </p:sp>
      <p:sp>
        <p:nvSpPr>
          <p:cNvPr id="168" name="Text 15"/>
          <p:cNvSpPr txBox="1"/>
          <p:nvPr/>
        </p:nvSpPr>
        <p:spPr>
          <a:xfrm>
            <a:off x="5212079" y="1913680"/>
            <a:ext cx="347472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Every inference run can be replayed from the message_log. Debugging is trivial — you see exactly what each agent sent and received.</a:t>
            </a:r>
          </a:p>
        </p:txBody>
      </p:sp>
      <p:sp>
        <p:nvSpPr>
          <p:cNvPr id="169" name="Shape 16"/>
          <p:cNvSpPr/>
          <p:nvPr/>
        </p:nvSpPr>
        <p:spPr>
          <a:xfrm>
            <a:off x="5029200" y="2467355"/>
            <a:ext cx="54864" cy="201169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7"/>
          <p:cNvSpPr txBox="1"/>
          <p:nvPr/>
        </p:nvSpPr>
        <p:spPr>
          <a:xfrm>
            <a:off x="5212079" y="2445942"/>
            <a:ext cx="14630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/>
            </a:lvl1pPr>
          </a:lstStyle>
          <a:p>
            <a:pPr/>
            <a:r>
              <a:t>Agent Independence — </a:t>
            </a:r>
          </a:p>
        </p:txBody>
      </p:sp>
      <p:sp>
        <p:nvSpPr>
          <p:cNvPr id="171" name="Text 18"/>
          <p:cNvSpPr txBox="1"/>
          <p:nvPr/>
        </p:nvSpPr>
        <p:spPr>
          <a:xfrm>
            <a:off x="5212079" y="2572048"/>
            <a:ext cx="347472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Changing the VIB formula in UncertaintyAgent never affects any other agent. Only the blackboard key 'sigma' matters to downstream agents.</a:t>
            </a:r>
          </a:p>
        </p:txBody>
      </p:sp>
      <p:sp>
        <p:nvSpPr>
          <p:cNvPr id="172" name="Shape 19"/>
          <p:cNvSpPr/>
          <p:nvPr/>
        </p:nvSpPr>
        <p:spPr>
          <a:xfrm>
            <a:off x="5029200" y="3125723"/>
            <a:ext cx="54864" cy="201169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20"/>
          <p:cNvSpPr txBox="1"/>
          <p:nvPr/>
        </p:nvSpPr>
        <p:spPr>
          <a:xfrm>
            <a:off x="5212079" y="3104309"/>
            <a:ext cx="14630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/>
            </a:lvl1pPr>
          </a:lstStyle>
          <a:p>
            <a:pPr/>
            <a:r>
              <a:t>Status Tracing — </a:t>
            </a:r>
          </a:p>
        </p:txBody>
      </p:sp>
      <p:sp>
        <p:nvSpPr>
          <p:cNvPr id="174" name="Text 21"/>
          <p:cNvSpPr txBox="1"/>
          <p:nvPr/>
        </p:nvSpPr>
        <p:spPr>
          <a:xfrm>
            <a:off x="5212079" y="3230416"/>
            <a:ext cx="347472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PENDING → PROCESSING → COMPLETED or FAILED — every message has a lifecycle. The orchestrator knows precisely when something breaks.</a:t>
            </a:r>
          </a:p>
        </p:txBody>
      </p:sp>
      <p:sp>
        <p:nvSpPr>
          <p:cNvPr id="175" name="Shape 22"/>
          <p:cNvSpPr/>
          <p:nvPr/>
        </p:nvSpPr>
        <p:spPr>
          <a:xfrm>
            <a:off x="5029200" y="3784091"/>
            <a:ext cx="54864" cy="201169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23"/>
          <p:cNvSpPr txBox="1"/>
          <p:nvPr/>
        </p:nvSpPr>
        <p:spPr>
          <a:xfrm>
            <a:off x="5212079" y="3762677"/>
            <a:ext cx="2255665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/>
            </a:lvl1pPr>
          </a:lstStyle>
          <a:p>
            <a:pPr/>
            <a:r>
              <a:t>Research Reproducibility — </a:t>
            </a:r>
          </a:p>
        </p:txBody>
      </p:sp>
      <p:sp>
        <p:nvSpPr>
          <p:cNvPr id="177" name="Text 24"/>
          <p:cNvSpPr txBox="1"/>
          <p:nvPr/>
        </p:nvSpPr>
        <p:spPr>
          <a:xfrm>
            <a:off x="5212079" y="3888784"/>
            <a:ext cx="347472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The entire pipeline state at any point in time is a JSON snapshot. Every experiment is fully reproducible from the message log alone.</a:t>
            </a:r>
          </a:p>
        </p:txBody>
      </p:sp>
      <p:pic>
        <p:nvPicPr>
          <p:cNvPr id="17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22" t="22155" r="1475" b="7642"/>
          <a:stretch>
            <a:fillRect/>
          </a:stretch>
        </p:blipFill>
        <p:spPr>
          <a:xfrm>
            <a:off x="8111138" y="66252"/>
            <a:ext cx="895347" cy="745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7" h="21560" fill="norm" stroke="1" extrusionOk="0">
                <a:moveTo>
                  <a:pt x="10698" y="19"/>
                </a:moveTo>
                <a:cubicBezTo>
                  <a:pt x="9739" y="-38"/>
                  <a:pt x="8773" y="36"/>
                  <a:pt x="7947" y="226"/>
                </a:cubicBezTo>
                <a:cubicBezTo>
                  <a:pt x="6592" y="538"/>
                  <a:pt x="4659" y="1505"/>
                  <a:pt x="3582" y="2441"/>
                </a:cubicBezTo>
                <a:cubicBezTo>
                  <a:pt x="1996" y="3819"/>
                  <a:pt x="610" y="6270"/>
                  <a:pt x="177" y="8443"/>
                </a:cubicBezTo>
                <a:cubicBezTo>
                  <a:pt x="-142" y="10043"/>
                  <a:pt x="-15" y="12635"/>
                  <a:pt x="446" y="14066"/>
                </a:cubicBezTo>
                <a:cubicBezTo>
                  <a:pt x="1670" y="17861"/>
                  <a:pt x="4971" y="20896"/>
                  <a:pt x="8493" y="21434"/>
                </a:cubicBezTo>
                <a:cubicBezTo>
                  <a:pt x="9080" y="21523"/>
                  <a:pt x="9449" y="21558"/>
                  <a:pt x="9846" y="21560"/>
                </a:cubicBezTo>
                <a:cubicBezTo>
                  <a:pt x="10243" y="21562"/>
                  <a:pt x="10661" y="21529"/>
                  <a:pt x="11343" y="21445"/>
                </a:cubicBezTo>
                <a:cubicBezTo>
                  <a:pt x="15089" y="20989"/>
                  <a:pt x="18485" y="18052"/>
                  <a:pt x="19686" y="14215"/>
                </a:cubicBezTo>
                <a:cubicBezTo>
                  <a:pt x="21458" y="8559"/>
                  <a:pt x="18656" y="2496"/>
                  <a:pt x="13368" y="535"/>
                </a:cubicBezTo>
                <a:cubicBezTo>
                  <a:pt x="12600" y="250"/>
                  <a:pt x="11656" y="76"/>
                  <a:pt x="10698" y="19"/>
                </a:cubicBezTo>
                <a:close/>
                <a:moveTo>
                  <a:pt x="9569" y="3359"/>
                </a:moveTo>
                <a:cubicBezTo>
                  <a:pt x="9725" y="3372"/>
                  <a:pt x="9808" y="3420"/>
                  <a:pt x="9784" y="3496"/>
                </a:cubicBezTo>
                <a:cubicBezTo>
                  <a:pt x="9724" y="3689"/>
                  <a:pt x="9661" y="3719"/>
                  <a:pt x="8852" y="4105"/>
                </a:cubicBezTo>
                <a:cubicBezTo>
                  <a:pt x="8590" y="4230"/>
                  <a:pt x="8198" y="4467"/>
                  <a:pt x="7973" y="4621"/>
                </a:cubicBezTo>
                <a:cubicBezTo>
                  <a:pt x="7533" y="4923"/>
                  <a:pt x="7319" y="4882"/>
                  <a:pt x="6943" y="4483"/>
                </a:cubicBezTo>
                <a:cubicBezTo>
                  <a:pt x="6713" y="4238"/>
                  <a:pt x="6730" y="4221"/>
                  <a:pt x="7400" y="3875"/>
                </a:cubicBezTo>
                <a:cubicBezTo>
                  <a:pt x="7807" y="3665"/>
                  <a:pt x="8428" y="3487"/>
                  <a:pt x="8932" y="3405"/>
                </a:cubicBezTo>
                <a:cubicBezTo>
                  <a:pt x="9185" y="3364"/>
                  <a:pt x="9412" y="3345"/>
                  <a:pt x="9569" y="335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79" name="International Institute of Information Technology, Naya Raipur"/>
          <p:cNvSpPr txBox="1"/>
          <p:nvPr/>
        </p:nvSpPr>
        <p:spPr>
          <a:xfrm>
            <a:off x="1614963" y="4782820"/>
            <a:ext cx="591407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180" name="Shape 3"/>
          <p:cNvSpPr/>
          <p:nvPr/>
        </p:nvSpPr>
        <p:spPr>
          <a:xfrm>
            <a:off x="320039" y="704088"/>
            <a:ext cx="7795750" cy="33744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" name="Shape 1"/>
          <p:cNvSpPr/>
          <p:nvPr/>
        </p:nvSpPr>
        <p:spPr>
          <a:xfrm>
            <a:off x="320040" y="164590"/>
            <a:ext cx="54866" cy="502922"/>
          </a:xfrm>
          <a:prstGeom prst="rect">
            <a:avLst/>
          </a:prstGeom>
          <a:solidFill>
            <a:srgbClr val="1B2A7B"/>
          </a:solidFill>
          <a:ln w="12700">
            <a:solidFill>
              <a:srgbClr val="1B2A7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1"/>
          <p:cNvSpPr txBox="1"/>
          <p:nvPr/>
        </p:nvSpPr>
        <p:spPr>
          <a:xfrm>
            <a:off x="8275319" y="4822751"/>
            <a:ext cx="6858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85" name="Text 4"/>
          <p:cNvSpPr txBox="1"/>
          <p:nvPr/>
        </p:nvSpPr>
        <p:spPr>
          <a:xfrm>
            <a:off x="411479" y="126075"/>
            <a:ext cx="7863842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F2473"/>
                </a:solidFill>
              </a:defRPr>
            </a:lvl1pPr>
          </a:lstStyle>
          <a:p>
            <a:pPr/>
            <a:r>
              <a:t>Softmax Confidence Cannot Be Trusted</a:t>
            </a:r>
          </a:p>
        </p:txBody>
      </p:sp>
      <p:sp>
        <p:nvSpPr>
          <p:cNvPr id="186" name="Text 6"/>
          <p:cNvSpPr txBox="1"/>
          <p:nvPr/>
        </p:nvSpPr>
        <p:spPr>
          <a:xfrm>
            <a:off x="411479" y="869635"/>
            <a:ext cx="78638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7474F"/>
                </a:solidFill>
              </a:defRPr>
            </a:lvl1pPr>
          </a:lstStyle>
          <a:p>
            <a:pPr/>
            <a:r>
              <a:t>The most common calibration baseline is structurally overconfident — and existing fixes apply to all inputs equally</a:t>
            </a:r>
          </a:p>
        </p:txBody>
      </p:sp>
      <p:sp>
        <p:nvSpPr>
          <p:cNvPr id="187" name="Shape 7"/>
          <p:cNvSpPr/>
          <p:nvPr/>
        </p:nvSpPr>
        <p:spPr>
          <a:xfrm>
            <a:off x="365759" y="1394967"/>
            <a:ext cx="3200401" cy="309067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8" name="Text 8"/>
          <p:cNvSpPr txBox="1"/>
          <p:nvPr/>
        </p:nvSpPr>
        <p:spPr>
          <a:xfrm>
            <a:off x="548639" y="1499415"/>
            <a:ext cx="28346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0F2473"/>
                </a:solidFill>
              </a:defRPr>
            </a:lvl1pPr>
          </a:lstStyle>
          <a:p>
            <a:pPr/>
            <a:r>
              <a:t>Phase 3 Results</a:t>
            </a:r>
          </a:p>
        </p:txBody>
      </p:sp>
      <p:sp>
        <p:nvSpPr>
          <p:cNvPr id="189" name="Text 9"/>
          <p:cNvSpPr txBox="1"/>
          <p:nvPr/>
        </p:nvSpPr>
        <p:spPr>
          <a:xfrm>
            <a:off x="548639" y="1740067"/>
            <a:ext cx="28346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90A4AE"/>
                </a:solidFill>
              </a:defRPr>
            </a:lvl1pPr>
          </a:lstStyle>
          <a:p>
            <a:pPr/>
            <a:r>
              <a:t>100 real actuarial questions · Mistral 7B</a:t>
            </a:r>
          </a:p>
        </p:txBody>
      </p:sp>
      <p:sp>
        <p:nvSpPr>
          <p:cNvPr id="190" name="Shape 10"/>
          <p:cNvSpPr/>
          <p:nvPr/>
        </p:nvSpPr>
        <p:spPr>
          <a:xfrm>
            <a:off x="457199" y="2035048"/>
            <a:ext cx="3017522" cy="49377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11"/>
          <p:cNvSpPr txBox="1"/>
          <p:nvPr/>
        </p:nvSpPr>
        <p:spPr>
          <a:xfrm>
            <a:off x="612647" y="2169082"/>
            <a:ext cx="11887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/>
            </a:lvl1pPr>
          </a:lstStyle>
          <a:p>
            <a:pPr/>
            <a:r>
              <a:t>Softmax</a:t>
            </a:r>
          </a:p>
        </p:txBody>
      </p:sp>
      <p:sp>
        <p:nvSpPr>
          <p:cNvPr id="192" name="Text 12"/>
          <p:cNvSpPr txBox="1"/>
          <p:nvPr/>
        </p:nvSpPr>
        <p:spPr>
          <a:xfrm>
            <a:off x="1920240" y="2052250"/>
            <a:ext cx="5943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/>
            </a:lvl1pPr>
          </a:lstStyle>
          <a:p>
            <a:pPr/>
            <a:r>
              <a:t>0.2945</a:t>
            </a:r>
          </a:p>
        </p:txBody>
      </p:sp>
      <p:sp>
        <p:nvSpPr>
          <p:cNvPr id="193" name="Text 13"/>
          <p:cNvSpPr txBox="1"/>
          <p:nvPr/>
        </p:nvSpPr>
        <p:spPr>
          <a:xfrm>
            <a:off x="1920240" y="2302799"/>
            <a:ext cx="5943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/>
            </a:lvl1pPr>
          </a:lstStyle>
          <a:p>
            <a:pPr/>
            <a:r>
              <a:t>ECE</a:t>
            </a:r>
          </a:p>
        </p:txBody>
      </p:sp>
      <p:sp>
        <p:nvSpPr>
          <p:cNvPr id="194" name="Text 14"/>
          <p:cNvSpPr txBox="1"/>
          <p:nvPr/>
        </p:nvSpPr>
        <p:spPr>
          <a:xfrm>
            <a:off x="2651759" y="2068498"/>
            <a:ext cx="685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/>
            </a:lvl1pPr>
          </a:lstStyle>
          <a:p>
            <a:pPr/>
            <a:r>
              <a:t>+0.166</a:t>
            </a:r>
          </a:p>
        </p:txBody>
      </p:sp>
      <p:sp>
        <p:nvSpPr>
          <p:cNvPr id="195" name="Text 15"/>
          <p:cNvSpPr txBox="1"/>
          <p:nvPr/>
        </p:nvSpPr>
        <p:spPr>
          <a:xfrm>
            <a:off x="2651759" y="2302799"/>
            <a:ext cx="68580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/>
            </a:lvl1pPr>
          </a:lstStyle>
          <a:p>
            <a:pPr/>
            <a:r>
              <a:t>Gap</a:t>
            </a:r>
          </a:p>
        </p:txBody>
      </p:sp>
      <p:sp>
        <p:nvSpPr>
          <p:cNvPr id="196" name="Shape 16"/>
          <p:cNvSpPr/>
          <p:nvPr/>
        </p:nvSpPr>
        <p:spPr>
          <a:xfrm>
            <a:off x="457199" y="2601976"/>
            <a:ext cx="3017522" cy="49377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7"/>
          <p:cNvSpPr txBox="1"/>
          <p:nvPr/>
        </p:nvSpPr>
        <p:spPr>
          <a:xfrm>
            <a:off x="612647" y="2736010"/>
            <a:ext cx="11887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/>
            </a:lvl1pPr>
          </a:lstStyle>
          <a:p>
            <a:pPr/>
            <a:r>
              <a:t>Temp. Scaling</a:t>
            </a:r>
          </a:p>
        </p:txBody>
      </p:sp>
      <p:sp>
        <p:nvSpPr>
          <p:cNvPr id="198" name="Text 18"/>
          <p:cNvSpPr txBox="1"/>
          <p:nvPr/>
        </p:nvSpPr>
        <p:spPr>
          <a:xfrm>
            <a:off x="1920240" y="2619178"/>
            <a:ext cx="5943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/>
            </a:lvl1pPr>
          </a:lstStyle>
          <a:p>
            <a:pPr/>
            <a:r>
              <a:t>0.2348</a:t>
            </a:r>
          </a:p>
        </p:txBody>
      </p:sp>
      <p:sp>
        <p:nvSpPr>
          <p:cNvPr id="199" name="Text 19"/>
          <p:cNvSpPr txBox="1"/>
          <p:nvPr/>
        </p:nvSpPr>
        <p:spPr>
          <a:xfrm>
            <a:off x="1920240" y="2869727"/>
            <a:ext cx="5943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/>
            </a:lvl1pPr>
          </a:lstStyle>
          <a:p>
            <a:pPr/>
            <a:r>
              <a:t>ECE</a:t>
            </a:r>
          </a:p>
        </p:txBody>
      </p:sp>
      <p:sp>
        <p:nvSpPr>
          <p:cNvPr id="200" name="Text 20"/>
          <p:cNvSpPr txBox="1"/>
          <p:nvPr/>
        </p:nvSpPr>
        <p:spPr>
          <a:xfrm>
            <a:off x="2651759" y="2635426"/>
            <a:ext cx="685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/>
            </a:lvl1pPr>
          </a:lstStyle>
          <a:p>
            <a:pPr/>
            <a:r>
              <a:t>+0.089</a:t>
            </a:r>
          </a:p>
        </p:txBody>
      </p:sp>
      <p:sp>
        <p:nvSpPr>
          <p:cNvPr id="201" name="Text 21"/>
          <p:cNvSpPr txBox="1"/>
          <p:nvPr/>
        </p:nvSpPr>
        <p:spPr>
          <a:xfrm>
            <a:off x="2651759" y="2869727"/>
            <a:ext cx="68580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/>
            </a:lvl1pPr>
          </a:lstStyle>
          <a:p>
            <a:pPr/>
            <a:r>
              <a:t>Gap</a:t>
            </a:r>
          </a:p>
        </p:txBody>
      </p:sp>
      <p:sp>
        <p:nvSpPr>
          <p:cNvPr id="202" name="Shape 22"/>
          <p:cNvSpPr/>
          <p:nvPr/>
        </p:nvSpPr>
        <p:spPr>
          <a:xfrm>
            <a:off x="457199" y="3168903"/>
            <a:ext cx="3017522" cy="49377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23"/>
          <p:cNvSpPr txBox="1"/>
          <p:nvPr/>
        </p:nvSpPr>
        <p:spPr>
          <a:xfrm>
            <a:off x="612647" y="3302938"/>
            <a:ext cx="11887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/>
            </a:lvl1pPr>
          </a:lstStyle>
          <a:p>
            <a:pPr/>
            <a:r>
              <a:t>MC Dropout</a:t>
            </a:r>
          </a:p>
        </p:txBody>
      </p:sp>
      <p:sp>
        <p:nvSpPr>
          <p:cNvPr id="204" name="Text 24"/>
          <p:cNvSpPr txBox="1"/>
          <p:nvPr/>
        </p:nvSpPr>
        <p:spPr>
          <a:xfrm>
            <a:off x="1920240" y="3186106"/>
            <a:ext cx="5943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/>
            </a:lvl1pPr>
          </a:lstStyle>
          <a:p>
            <a:pPr/>
            <a:r>
              <a:t>0.2935</a:t>
            </a:r>
          </a:p>
        </p:txBody>
      </p:sp>
      <p:sp>
        <p:nvSpPr>
          <p:cNvPr id="205" name="Text 25"/>
          <p:cNvSpPr txBox="1"/>
          <p:nvPr/>
        </p:nvSpPr>
        <p:spPr>
          <a:xfrm>
            <a:off x="1920240" y="3436655"/>
            <a:ext cx="5943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/>
            </a:lvl1pPr>
          </a:lstStyle>
          <a:p>
            <a:pPr/>
            <a:r>
              <a:t>ECE</a:t>
            </a:r>
          </a:p>
        </p:txBody>
      </p:sp>
      <p:sp>
        <p:nvSpPr>
          <p:cNvPr id="206" name="Text 26"/>
          <p:cNvSpPr txBox="1"/>
          <p:nvPr/>
        </p:nvSpPr>
        <p:spPr>
          <a:xfrm>
            <a:off x="2651759" y="3202354"/>
            <a:ext cx="685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/>
            </a:lvl1pPr>
          </a:lstStyle>
          <a:p>
            <a:pPr/>
            <a:r>
              <a:t>+0.163</a:t>
            </a:r>
          </a:p>
        </p:txBody>
      </p:sp>
      <p:sp>
        <p:nvSpPr>
          <p:cNvPr id="207" name="Text 27"/>
          <p:cNvSpPr txBox="1"/>
          <p:nvPr/>
        </p:nvSpPr>
        <p:spPr>
          <a:xfrm>
            <a:off x="2651759" y="3436655"/>
            <a:ext cx="68580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/>
            </a:lvl1pPr>
          </a:lstStyle>
          <a:p>
            <a:pPr/>
            <a:r>
              <a:t>Gap</a:t>
            </a:r>
          </a:p>
        </p:txBody>
      </p:sp>
      <p:sp>
        <p:nvSpPr>
          <p:cNvPr id="208" name="Shape 28"/>
          <p:cNvSpPr/>
          <p:nvPr/>
        </p:nvSpPr>
        <p:spPr>
          <a:xfrm>
            <a:off x="457199" y="3735832"/>
            <a:ext cx="3017522" cy="49377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29"/>
          <p:cNvSpPr txBox="1"/>
          <p:nvPr/>
        </p:nvSpPr>
        <p:spPr>
          <a:xfrm>
            <a:off x="612647" y="3853619"/>
            <a:ext cx="118872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/>
            </a:lvl1pPr>
          </a:lstStyle>
          <a:p>
            <a:pPr/>
            <a:r>
              <a:t>VIB Layer</a:t>
            </a:r>
          </a:p>
        </p:txBody>
      </p:sp>
      <p:sp>
        <p:nvSpPr>
          <p:cNvPr id="210" name="Text 30"/>
          <p:cNvSpPr txBox="1"/>
          <p:nvPr/>
        </p:nvSpPr>
        <p:spPr>
          <a:xfrm>
            <a:off x="1920240" y="3731839"/>
            <a:ext cx="6858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/>
            </a:lvl1pPr>
          </a:lstStyle>
          <a:p>
            <a:pPr/>
            <a:r>
              <a:t>0.1501</a:t>
            </a:r>
          </a:p>
        </p:txBody>
      </p:sp>
      <p:sp>
        <p:nvSpPr>
          <p:cNvPr id="211" name="Text 31"/>
          <p:cNvSpPr txBox="1"/>
          <p:nvPr/>
        </p:nvSpPr>
        <p:spPr>
          <a:xfrm>
            <a:off x="1920240" y="4003583"/>
            <a:ext cx="5943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/>
            </a:lvl1pPr>
          </a:lstStyle>
          <a:p>
            <a:pPr/>
            <a:r>
              <a:t>ECE</a:t>
            </a:r>
          </a:p>
        </p:txBody>
      </p:sp>
      <p:sp>
        <p:nvSpPr>
          <p:cNvPr id="212" name="Text 32"/>
          <p:cNvSpPr txBox="1"/>
          <p:nvPr/>
        </p:nvSpPr>
        <p:spPr>
          <a:xfrm>
            <a:off x="2651759" y="3757983"/>
            <a:ext cx="68580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/>
            </a:lvl1pPr>
          </a:lstStyle>
          <a:p>
            <a:pPr/>
            <a:r>
              <a:t>−0.081</a:t>
            </a:r>
          </a:p>
        </p:txBody>
      </p:sp>
      <p:sp>
        <p:nvSpPr>
          <p:cNvPr id="213" name="Text 33"/>
          <p:cNvSpPr txBox="1"/>
          <p:nvPr/>
        </p:nvSpPr>
        <p:spPr>
          <a:xfrm>
            <a:off x="2651759" y="4003583"/>
            <a:ext cx="68580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/>
            </a:lvl1pPr>
          </a:lstStyle>
          <a:p>
            <a:pPr/>
            <a:r>
              <a:t>Gap</a:t>
            </a:r>
          </a:p>
        </p:txBody>
      </p:sp>
      <p:sp>
        <p:nvSpPr>
          <p:cNvPr id="214" name="Shape 34"/>
          <p:cNvSpPr/>
          <p:nvPr/>
        </p:nvSpPr>
        <p:spPr>
          <a:xfrm>
            <a:off x="3749040" y="1394967"/>
            <a:ext cx="5074921" cy="309067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  <a:effectLst>
            <a:outerShdw sx="100000" sy="100000" kx="0" ky="0" algn="b" rotWithShape="0" blurRad="635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" name="Text 35"/>
          <p:cNvSpPr txBox="1"/>
          <p:nvPr/>
        </p:nvSpPr>
        <p:spPr>
          <a:xfrm>
            <a:off x="3886199" y="1440995"/>
            <a:ext cx="48006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F2473"/>
                </a:solidFill>
              </a:defRPr>
            </a:lvl1pPr>
          </a:lstStyle>
          <a:p>
            <a:pPr/>
            <a:r>
              <a:t>Why Temperature Scaling and MC Dropout Are Insufficient</a:t>
            </a:r>
          </a:p>
        </p:txBody>
      </p:sp>
      <p:sp>
        <p:nvSpPr>
          <p:cNvPr id="216" name="Text 36"/>
          <p:cNvSpPr txBox="1"/>
          <p:nvPr/>
        </p:nvSpPr>
        <p:spPr>
          <a:xfrm>
            <a:off x="3886199" y="1842954"/>
            <a:ext cx="10972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/>
            </a:lvl1pPr>
          </a:lstStyle>
          <a:p>
            <a:pPr/>
            <a:r>
              <a:t>→</a:t>
            </a:r>
          </a:p>
        </p:txBody>
      </p:sp>
      <p:sp>
        <p:nvSpPr>
          <p:cNvPr id="217" name="Text 37"/>
          <p:cNvSpPr txBox="1"/>
          <p:nvPr/>
        </p:nvSpPr>
        <p:spPr>
          <a:xfrm>
            <a:off x="4114799" y="1859202"/>
            <a:ext cx="225793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/>
            </a:lvl1pPr>
          </a:lstStyle>
          <a:p>
            <a:pPr/>
            <a:r>
              <a:t>Global correction, not per-input — </a:t>
            </a:r>
          </a:p>
        </p:txBody>
      </p:sp>
      <p:sp>
        <p:nvSpPr>
          <p:cNvPr id="218" name="Text 38"/>
          <p:cNvSpPr txBox="1"/>
          <p:nvPr/>
        </p:nvSpPr>
        <p:spPr>
          <a:xfrm>
            <a:off x="4114799" y="2077002"/>
            <a:ext cx="452628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Temperature Scaling divides all logits by the same scalar T=1.5. A simple actuarial question and an ambiguous edge case get identical adjustments.</a:t>
            </a:r>
          </a:p>
        </p:txBody>
      </p:sp>
      <p:sp>
        <p:nvSpPr>
          <p:cNvPr id="219" name="Text 39"/>
          <p:cNvSpPr txBox="1"/>
          <p:nvPr/>
        </p:nvSpPr>
        <p:spPr>
          <a:xfrm>
            <a:off x="3886199" y="2501323"/>
            <a:ext cx="10972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/>
            </a:lvl1pPr>
          </a:lstStyle>
          <a:p>
            <a:pPr/>
            <a:r>
              <a:t>→</a:t>
            </a:r>
          </a:p>
        </p:txBody>
      </p:sp>
      <p:sp>
        <p:nvSpPr>
          <p:cNvPr id="220" name="Text 40"/>
          <p:cNvSpPr txBox="1"/>
          <p:nvPr/>
        </p:nvSpPr>
        <p:spPr>
          <a:xfrm>
            <a:off x="4114799" y="2517570"/>
            <a:ext cx="2774828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/>
            </a:lvl1pPr>
          </a:lstStyle>
          <a:p>
            <a:pPr/>
            <a:r>
              <a:t>MC Dropout is expensive and approximate — </a:t>
            </a:r>
          </a:p>
        </p:txBody>
      </p:sp>
      <p:sp>
        <p:nvSpPr>
          <p:cNvPr id="221" name="Text 41"/>
          <p:cNvSpPr txBox="1"/>
          <p:nvPr/>
        </p:nvSpPr>
        <p:spPr>
          <a:xfrm>
            <a:off x="4114799" y="2735370"/>
            <a:ext cx="452628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5 forward passes with simulated dropout gives noisy variance estimates. On API-level outputs (no model internals), this is even weaker — we cannot access hidden states.</a:t>
            </a:r>
          </a:p>
        </p:txBody>
      </p:sp>
      <p:sp>
        <p:nvSpPr>
          <p:cNvPr id="222" name="Text 42"/>
          <p:cNvSpPr txBox="1"/>
          <p:nvPr/>
        </p:nvSpPr>
        <p:spPr>
          <a:xfrm>
            <a:off x="3886199" y="3159691"/>
            <a:ext cx="109729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/>
            </a:lvl1pPr>
          </a:lstStyle>
          <a:p>
            <a:pPr/>
            <a:r>
              <a:t>→</a:t>
            </a:r>
          </a:p>
        </p:txBody>
      </p:sp>
      <p:sp>
        <p:nvSpPr>
          <p:cNvPr id="223" name="Text 43"/>
          <p:cNvSpPr txBox="1"/>
          <p:nvPr/>
        </p:nvSpPr>
        <p:spPr>
          <a:xfrm>
            <a:off x="4114799" y="3175938"/>
            <a:ext cx="237384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/>
            </a:lvl1pPr>
          </a:lstStyle>
          <a:p>
            <a:pPr/>
            <a:r>
              <a:t>Both miss the information source — </a:t>
            </a:r>
          </a:p>
        </p:txBody>
      </p:sp>
      <p:sp>
        <p:nvSpPr>
          <p:cNvPr id="224" name="Text 44"/>
          <p:cNvSpPr txBox="1"/>
          <p:nvPr/>
        </p:nvSpPr>
        <p:spPr>
          <a:xfrm>
            <a:off x="4114799" y="3393738"/>
            <a:ext cx="452628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These methods post-process the output logit distribution. The root cause — how much information the input actually carries — is never examined.</a:t>
            </a:r>
          </a:p>
        </p:txBody>
      </p:sp>
      <p:sp>
        <p:nvSpPr>
          <p:cNvPr id="225" name="Text 45"/>
          <p:cNvSpPr txBox="1"/>
          <p:nvPr/>
        </p:nvSpPr>
        <p:spPr>
          <a:xfrm>
            <a:off x="3886199" y="3799840"/>
            <a:ext cx="10972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</p:txBody>
      </p:sp>
      <p:sp>
        <p:nvSpPr>
          <p:cNvPr id="226" name="Text 46"/>
          <p:cNvSpPr txBox="1"/>
          <p:nvPr/>
        </p:nvSpPr>
        <p:spPr>
          <a:xfrm>
            <a:off x="4114799" y="383430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/>
            </a:lvl1pPr>
          </a:lstStyle>
          <a:p>
            <a:pPr/>
            <a:r>
              <a:t>VIB operates at the source — </a:t>
            </a:r>
          </a:p>
        </p:txBody>
      </p:sp>
      <p:sp>
        <p:nvSpPr>
          <p:cNvPr id="227" name="Text 47"/>
          <p:cNvSpPr txBox="1"/>
          <p:nvPr/>
        </p:nvSpPr>
        <p:spPr>
          <a:xfrm>
            <a:off x="4114799" y="4052106"/>
            <a:ext cx="4676278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74F"/>
                </a:solidFill>
              </a:defRPr>
            </a:lvl1pPr>
          </a:lstStyle>
          <a:p>
            <a:pPr/>
            <a:r>
              <a:t>VIB reads the log-probability distribution and computes entropy H(q) and KL divergence from uniform. High entropy means the input is ambiguous — and σ reflects that.</a:t>
            </a:r>
          </a:p>
        </p:txBody>
      </p:sp>
      <p:pic>
        <p:nvPicPr>
          <p:cNvPr id="22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22" t="22155" r="1475" b="7642"/>
          <a:stretch>
            <a:fillRect/>
          </a:stretch>
        </p:blipFill>
        <p:spPr>
          <a:xfrm>
            <a:off x="8111138" y="66252"/>
            <a:ext cx="895347" cy="745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7" h="21560" fill="norm" stroke="1" extrusionOk="0">
                <a:moveTo>
                  <a:pt x="10698" y="19"/>
                </a:moveTo>
                <a:cubicBezTo>
                  <a:pt x="9739" y="-38"/>
                  <a:pt x="8773" y="36"/>
                  <a:pt x="7947" y="226"/>
                </a:cubicBezTo>
                <a:cubicBezTo>
                  <a:pt x="6592" y="538"/>
                  <a:pt x="4659" y="1505"/>
                  <a:pt x="3582" y="2441"/>
                </a:cubicBezTo>
                <a:cubicBezTo>
                  <a:pt x="1996" y="3819"/>
                  <a:pt x="610" y="6270"/>
                  <a:pt x="177" y="8443"/>
                </a:cubicBezTo>
                <a:cubicBezTo>
                  <a:pt x="-142" y="10043"/>
                  <a:pt x="-15" y="12635"/>
                  <a:pt x="446" y="14066"/>
                </a:cubicBezTo>
                <a:cubicBezTo>
                  <a:pt x="1670" y="17861"/>
                  <a:pt x="4971" y="20896"/>
                  <a:pt x="8493" y="21434"/>
                </a:cubicBezTo>
                <a:cubicBezTo>
                  <a:pt x="9080" y="21523"/>
                  <a:pt x="9449" y="21558"/>
                  <a:pt x="9846" y="21560"/>
                </a:cubicBezTo>
                <a:cubicBezTo>
                  <a:pt x="10243" y="21562"/>
                  <a:pt x="10661" y="21529"/>
                  <a:pt x="11343" y="21445"/>
                </a:cubicBezTo>
                <a:cubicBezTo>
                  <a:pt x="15089" y="20989"/>
                  <a:pt x="18485" y="18052"/>
                  <a:pt x="19686" y="14215"/>
                </a:cubicBezTo>
                <a:cubicBezTo>
                  <a:pt x="21458" y="8559"/>
                  <a:pt x="18656" y="2496"/>
                  <a:pt x="13368" y="535"/>
                </a:cubicBezTo>
                <a:cubicBezTo>
                  <a:pt x="12600" y="250"/>
                  <a:pt x="11656" y="76"/>
                  <a:pt x="10698" y="19"/>
                </a:cubicBezTo>
                <a:close/>
                <a:moveTo>
                  <a:pt x="9569" y="3359"/>
                </a:moveTo>
                <a:cubicBezTo>
                  <a:pt x="9725" y="3372"/>
                  <a:pt x="9808" y="3420"/>
                  <a:pt x="9784" y="3496"/>
                </a:cubicBezTo>
                <a:cubicBezTo>
                  <a:pt x="9724" y="3689"/>
                  <a:pt x="9661" y="3719"/>
                  <a:pt x="8852" y="4105"/>
                </a:cubicBezTo>
                <a:cubicBezTo>
                  <a:pt x="8590" y="4230"/>
                  <a:pt x="8198" y="4467"/>
                  <a:pt x="7973" y="4621"/>
                </a:cubicBezTo>
                <a:cubicBezTo>
                  <a:pt x="7533" y="4923"/>
                  <a:pt x="7319" y="4882"/>
                  <a:pt x="6943" y="4483"/>
                </a:cubicBezTo>
                <a:cubicBezTo>
                  <a:pt x="6713" y="4238"/>
                  <a:pt x="6730" y="4221"/>
                  <a:pt x="7400" y="3875"/>
                </a:cubicBezTo>
                <a:cubicBezTo>
                  <a:pt x="7807" y="3665"/>
                  <a:pt x="8428" y="3487"/>
                  <a:pt x="8932" y="3405"/>
                </a:cubicBezTo>
                <a:cubicBezTo>
                  <a:pt x="9185" y="3364"/>
                  <a:pt x="9412" y="3345"/>
                  <a:pt x="9569" y="335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29" name="International Institute of Information Technology, Naya Raipur"/>
          <p:cNvSpPr txBox="1"/>
          <p:nvPr/>
        </p:nvSpPr>
        <p:spPr>
          <a:xfrm>
            <a:off x="1614963" y="4782820"/>
            <a:ext cx="591407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230" name="Shape 3"/>
          <p:cNvSpPr/>
          <p:nvPr/>
        </p:nvSpPr>
        <p:spPr>
          <a:xfrm>
            <a:off x="320039" y="704088"/>
            <a:ext cx="7795750" cy="33744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1" name="Shape 1"/>
          <p:cNvSpPr/>
          <p:nvPr/>
        </p:nvSpPr>
        <p:spPr>
          <a:xfrm>
            <a:off x="320040" y="164590"/>
            <a:ext cx="54866" cy="502922"/>
          </a:xfrm>
          <a:prstGeom prst="rect">
            <a:avLst/>
          </a:prstGeom>
          <a:solidFill>
            <a:srgbClr val="1B2A7B"/>
          </a:solidFill>
          <a:ln w="12700">
            <a:solidFill>
              <a:srgbClr val="1B2A7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"/>
          <p:cNvSpPr txBox="1"/>
          <p:nvPr/>
        </p:nvSpPr>
        <p:spPr>
          <a:xfrm>
            <a:off x="8275319" y="4822751"/>
            <a:ext cx="6858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235" name="Text 4"/>
          <p:cNvSpPr txBox="1"/>
          <p:nvPr/>
        </p:nvSpPr>
        <p:spPr>
          <a:xfrm>
            <a:off x="411479" y="145765"/>
            <a:ext cx="7863842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F2473"/>
                </a:solidFill>
              </a:defRPr>
            </a:lvl1pPr>
          </a:lstStyle>
          <a:p>
            <a:pPr/>
            <a:r>
              <a:t>VIB Layer: Information-Theoretic Uncertainty</a:t>
            </a:r>
          </a:p>
        </p:txBody>
      </p:sp>
      <p:sp>
        <p:nvSpPr>
          <p:cNvPr id="236" name="Text 6"/>
          <p:cNvSpPr txBox="1"/>
          <p:nvPr/>
        </p:nvSpPr>
        <p:spPr>
          <a:xfrm>
            <a:off x="411479" y="864039"/>
            <a:ext cx="786384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7474F"/>
                </a:solidFill>
              </a:defRPr>
            </a:lvl1pPr>
          </a:lstStyle>
          <a:p>
            <a:pPr/>
            <a:r>
              <a:t>A trained encoder that learns to be honest — KL regularization prevents overconfident latent representations</a:t>
            </a:r>
          </a:p>
        </p:txBody>
      </p:sp>
      <p:sp>
        <p:nvSpPr>
          <p:cNvPr id="237" name="Shape 7"/>
          <p:cNvSpPr/>
          <p:nvPr/>
        </p:nvSpPr>
        <p:spPr>
          <a:xfrm>
            <a:off x="365759" y="1306067"/>
            <a:ext cx="3931922" cy="30906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8"/>
          <p:cNvSpPr/>
          <p:nvPr/>
        </p:nvSpPr>
        <p:spPr>
          <a:xfrm>
            <a:off x="365759" y="1306067"/>
            <a:ext cx="3931922" cy="347473"/>
          </a:xfrm>
          <a:prstGeom prst="rect">
            <a:avLst/>
          </a:prstGeom>
          <a:solidFill>
            <a:srgbClr val="0F247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9"/>
          <p:cNvSpPr txBox="1"/>
          <p:nvPr/>
        </p:nvSpPr>
        <p:spPr>
          <a:xfrm>
            <a:off x="411479" y="1355651"/>
            <a:ext cx="38404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VIB Encoder Architecture</a:t>
            </a:r>
          </a:p>
        </p:txBody>
      </p:sp>
      <p:sp>
        <p:nvSpPr>
          <p:cNvPr id="240" name="Shape 10"/>
          <p:cNvSpPr/>
          <p:nvPr/>
        </p:nvSpPr>
        <p:spPr>
          <a:xfrm>
            <a:off x="502919" y="1726692"/>
            <a:ext cx="3657601" cy="3474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1"/>
          <p:cNvSpPr txBox="1"/>
          <p:nvPr/>
        </p:nvSpPr>
        <p:spPr>
          <a:xfrm>
            <a:off x="640079" y="1714499"/>
            <a:ext cx="338328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F247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Input:  conf_dist  ∈  ℝᴷ</a:t>
            </a:r>
          </a:p>
        </p:txBody>
      </p:sp>
      <p:sp>
        <p:nvSpPr>
          <p:cNvPr id="242" name="Text 12"/>
          <p:cNvSpPr txBox="1"/>
          <p:nvPr/>
        </p:nvSpPr>
        <p:spPr>
          <a:xfrm>
            <a:off x="640079" y="1893483"/>
            <a:ext cx="33832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/>
            <a:r>
              <a:t>Softmax distribution from Reasoning Agent</a:t>
            </a:r>
          </a:p>
        </p:txBody>
      </p:sp>
      <p:sp>
        <p:nvSpPr>
          <p:cNvPr id="243" name="Shape 13"/>
          <p:cNvSpPr/>
          <p:nvPr/>
        </p:nvSpPr>
        <p:spPr>
          <a:xfrm>
            <a:off x="502919" y="2138172"/>
            <a:ext cx="3657601" cy="3474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14"/>
          <p:cNvSpPr txBox="1"/>
          <p:nvPr/>
        </p:nvSpPr>
        <p:spPr>
          <a:xfrm>
            <a:off x="640079" y="2125980"/>
            <a:ext cx="338328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F247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Linear(K → 64) → ReLU</a:t>
            </a:r>
          </a:p>
        </p:txBody>
      </p:sp>
      <p:sp>
        <p:nvSpPr>
          <p:cNvPr id="245" name="Text 15"/>
          <p:cNvSpPr txBox="1"/>
          <p:nvPr/>
        </p:nvSpPr>
        <p:spPr>
          <a:xfrm>
            <a:off x="640079" y="2304963"/>
            <a:ext cx="33832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/>
            <a:r>
              <a:t>Feature extraction from confidence vector</a:t>
            </a:r>
          </a:p>
        </p:txBody>
      </p:sp>
      <p:sp>
        <p:nvSpPr>
          <p:cNvPr id="246" name="Shape 16"/>
          <p:cNvSpPr/>
          <p:nvPr/>
        </p:nvSpPr>
        <p:spPr>
          <a:xfrm>
            <a:off x="502919" y="2549651"/>
            <a:ext cx="3657601" cy="3474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17"/>
          <p:cNvSpPr txBox="1"/>
          <p:nvPr/>
        </p:nvSpPr>
        <p:spPr>
          <a:xfrm>
            <a:off x="640079" y="2537459"/>
            <a:ext cx="338328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F247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Linear(64 → 64) → ReLU</a:t>
            </a:r>
          </a:p>
        </p:txBody>
      </p:sp>
      <p:sp>
        <p:nvSpPr>
          <p:cNvPr id="248" name="Text 18"/>
          <p:cNvSpPr txBox="1"/>
          <p:nvPr/>
        </p:nvSpPr>
        <p:spPr>
          <a:xfrm>
            <a:off x="640079" y="2716443"/>
            <a:ext cx="33832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/>
            <a:r>
              <a:t>Non-linear representation</a:t>
            </a:r>
          </a:p>
        </p:txBody>
      </p:sp>
      <p:sp>
        <p:nvSpPr>
          <p:cNvPr id="249" name="Shape 19"/>
          <p:cNvSpPr/>
          <p:nvPr/>
        </p:nvSpPr>
        <p:spPr>
          <a:xfrm>
            <a:off x="502919" y="2961132"/>
            <a:ext cx="3657601" cy="3474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20"/>
          <p:cNvSpPr txBox="1"/>
          <p:nvPr/>
        </p:nvSpPr>
        <p:spPr>
          <a:xfrm>
            <a:off x="640079" y="2948940"/>
            <a:ext cx="338328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F247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μ-head:  Linear(64 → 32)</a:t>
            </a:r>
          </a:p>
        </p:txBody>
      </p:sp>
      <p:sp>
        <p:nvSpPr>
          <p:cNvPr id="251" name="Text 21"/>
          <p:cNvSpPr txBox="1"/>
          <p:nvPr/>
        </p:nvSpPr>
        <p:spPr>
          <a:xfrm>
            <a:off x="640079" y="3127923"/>
            <a:ext cx="33832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/>
            <a:r>
              <a:t>Mean of latent Gaussian distribution</a:t>
            </a:r>
          </a:p>
        </p:txBody>
      </p:sp>
      <p:sp>
        <p:nvSpPr>
          <p:cNvPr id="252" name="Shape 22"/>
          <p:cNvSpPr/>
          <p:nvPr/>
        </p:nvSpPr>
        <p:spPr>
          <a:xfrm>
            <a:off x="502919" y="3372611"/>
            <a:ext cx="3657601" cy="3474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23"/>
          <p:cNvSpPr txBox="1"/>
          <p:nvPr/>
        </p:nvSpPr>
        <p:spPr>
          <a:xfrm>
            <a:off x="640079" y="3360420"/>
            <a:ext cx="3383282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F247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σ-head:  Linear(64→32) + Softplus</a:t>
            </a:r>
          </a:p>
        </p:txBody>
      </p:sp>
      <p:sp>
        <p:nvSpPr>
          <p:cNvPr id="254" name="Text 24"/>
          <p:cNvSpPr txBox="1"/>
          <p:nvPr/>
        </p:nvSpPr>
        <p:spPr>
          <a:xfrm>
            <a:off x="640079" y="3539403"/>
            <a:ext cx="33832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/>
            <a:r>
              <a:t>Variance — the uncertainty output</a:t>
            </a:r>
          </a:p>
        </p:txBody>
      </p:sp>
      <p:sp>
        <p:nvSpPr>
          <p:cNvPr id="255" name="Shape 25"/>
          <p:cNvSpPr/>
          <p:nvPr/>
        </p:nvSpPr>
        <p:spPr>
          <a:xfrm>
            <a:off x="502919" y="3784091"/>
            <a:ext cx="3657601" cy="3474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26"/>
          <p:cNvSpPr txBox="1"/>
          <p:nvPr/>
        </p:nvSpPr>
        <p:spPr>
          <a:xfrm>
            <a:off x="640079" y="3771899"/>
            <a:ext cx="338328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0F2473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σ_scalar = mean(σ_vector)</a:t>
            </a:r>
          </a:p>
        </p:txBody>
      </p:sp>
      <p:sp>
        <p:nvSpPr>
          <p:cNvPr id="257" name="Text 27"/>
          <p:cNvSpPr txBox="1"/>
          <p:nvPr/>
        </p:nvSpPr>
        <p:spPr>
          <a:xfrm>
            <a:off x="640079" y="3950883"/>
            <a:ext cx="33832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0A4AE"/>
                </a:solidFill>
              </a:defRPr>
            </a:lvl1pPr>
          </a:lstStyle>
          <a:p>
            <a:pPr/>
            <a:r>
              <a:t>Final scalar uncertainty passed to POMDP</a:t>
            </a:r>
          </a:p>
        </p:txBody>
      </p:sp>
      <p:sp>
        <p:nvSpPr>
          <p:cNvPr id="258" name="Shape 28"/>
          <p:cNvSpPr/>
          <p:nvPr/>
        </p:nvSpPr>
        <p:spPr>
          <a:xfrm>
            <a:off x="4480559" y="1306067"/>
            <a:ext cx="4343401" cy="155448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29"/>
          <p:cNvSpPr txBox="1"/>
          <p:nvPr/>
        </p:nvSpPr>
        <p:spPr>
          <a:xfrm>
            <a:off x="4617719" y="1401371"/>
            <a:ext cx="40690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/>
            </a:lvl1pPr>
          </a:lstStyle>
          <a:p>
            <a:pPr/>
            <a:r>
              <a:t>Training Objective (VIB Loss)</a:t>
            </a:r>
          </a:p>
        </p:txBody>
      </p:sp>
      <p:sp>
        <p:nvSpPr>
          <p:cNvPr id="260" name="Shape 30"/>
          <p:cNvSpPr/>
          <p:nvPr/>
        </p:nvSpPr>
        <p:spPr>
          <a:xfrm>
            <a:off x="4571999" y="1726692"/>
            <a:ext cx="4160522" cy="43891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31"/>
          <p:cNvSpPr txBox="1"/>
          <p:nvPr/>
        </p:nvSpPr>
        <p:spPr>
          <a:xfrm>
            <a:off x="4663440" y="1734611"/>
            <a:ext cx="3977641" cy="423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 = BCE(correctness)  +  β · KL( N(μ,σ²) ‖ N(0,I) )</a:t>
            </a:r>
          </a:p>
        </p:txBody>
      </p:sp>
      <p:sp>
        <p:nvSpPr>
          <p:cNvPr id="262" name="Text 32"/>
          <p:cNvSpPr txBox="1"/>
          <p:nvPr/>
        </p:nvSpPr>
        <p:spPr>
          <a:xfrm>
            <a:off x="4617719" y="2215940"/>
            <a:ext cx="40690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90A4AE"/>
                </a:solidFill>
              </a:defRPr>
            </a:lvl1pPr>
          </a:lstStyle>
          <a:p>
            <a:pPr/>
            <a:r>
              <a:t>β = 0.01 · Latent dim = 32 · Trained on 215 samples</a:t>
            </a:r>
          </a:p>
        </p:txBody>
      </p:sp>
      <p:sp>
        <p:nvSpPr>
          <p:cNvPr id="263" name="Text 33"/>
          <p:cNvSpPr txBox="1"/>
          <p:nvPr/>
        </p:nvSpPr>
        <p:spPr>
          <a:xfrm>
            <a:off x="4617719" y="2454832"/>
            <a:ext cx="406908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The KL term forces honest uncertainty — the encoder cannot output a low σ when its latent distribution is wide.</a:t>
            </a:r>
          </a:p>
        </p:txBody>
      </p:sp>
      <p:sp>
        <p:nvSpPr>
          <p:cNvPr id="264" name="Shape 34"/>
          <p:cNvSpPr/>
          <p:nvPr/>
        </p:nvSpPr>
        <p:spPr>
          <a:xfrm>
            <a:off x="4480559" y="2933700"/>
            <a:ext cx="4343401" cy="148132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Text 35"/>
          <p:cNvSpPr txBox="1"/>
          <p:nvPr/>
        </p:nvSpPr>
        <p:spPr>
          <a:xfrm>
            <a:off x="4617719" y="3019859"/>
            <a:ext cx="40690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0F2473"/>
                </a:solidFill>
              </a:defRPr>
            </a:lvl1pPr>
          </a:lstStyle>
          <a:p>
            <a:pPr/>
            <a:r>
              <a:t>VIB Formula (Analytical Approximation)</a:t>
            </a:r>
          </a:p>
        </p:txBody>
      </p:sp>
      <p:sp>
        <p:nvSpPr>
          <p:cNvPr id="266" name="Shape 36"/>
          <p:cNvSpPr/>
          <p:nvPr/>
        </p:nvSpPr>
        <p:spPr>
          <a:xfrm>
            <a:off x="4571999" y="3336035"/>
            <a:ext cx="4160522" cy="38404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37"/>
          <p:cNvSpPr txBox="1"/>
          <p:nvPr/>
        </p:nvSpPr>
        <p:spPr>
          <a:xfrm>
            <a:off x="4663440" y="3406139"/>
            <a:ext cx="397764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37474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σ = tanh( β₀ · H(q) + β₁ · KL(p ‖ uniform) )</a:t>
            </a:r>
          </a:p>
        </p:txBody>
      </p:sp>
      <p:sp>
        <p:nvSpPr>
          <p:cNvPr id="268" name="Text 38"/>
          <p:cNvSpPr txBox="1"/>
          <p:nvPr/>
        </p:nvSpPr>
        <p:spPr>
          <a:xfrm>
            <a:off x="4617719" y="3797598"/>
            <a:ext cx="406908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37474F"/>
                </a:solidFill>
              </a:defRPr>
            </a:pPr>
            <a:r>
              <a:t>H(q) = Shannon entropy of confidence distribution</a:t>
            </a:r>
          </a:p>
          <a:p>
            <a:pPr>
              <a:defRPr sz="1000">
                <a:solidFill>
                  <a:srgbClr val="37474F"/>
                </a:solidFill>
              </a:defRPr>
            </a:pPr>
            <a:r>
              <a:t>KL from uniform = how peaked the distribution is</a:t>
            </a:r>
          </a:p>
        </p:txBody>
      </p:sp>
      <p:pic>
        <p:nvPicPr>
          <p:cNvPr id="26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22" t="22155" r="1475" b="7642"/>
          <a:stretch>
            <a:fillRect/>
          </a:stretch>
        </p:blipFill>
        <p:spPr>
          <a:xfrm>
            <a:off x="8111138" y="66252"/>
            <a:ext cx="895347" cy="745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7" h="21560" fill="norm" stroke="1" extrusionOk="0">
                <a:moveTo>
                  <a:pt x="10698" y="19"/>
                </a:moveTo>
                <a:cubicBezTo>
                  <a:pt x="9739" y="-38"/>
                  <a:pt x="8773" y="36"/>
                  <a:pt x="7947" y="226"/>
                </a:cubicBezTo>
                <a:cubicBezTo>
                  <a:pt x="6592" y="538"/>
                  <a:pt x="4659" y="1505"/>
                  <a:pt x="3582" y="2441"/>
                </a:cubicBezTo>
                <a:cubicBezTo>
                  <a:pt x="1996" y="3819"/>
                  <a:pt x="610" y="6270"/>
                  <a:pt x="177" y="8443"/>
                </a:cubicBezTo>
                <a:cubicBezTo>
                  <a:pt x="-142" y="10043"/>
                  <a:pt x="-15" y="12635"/>
                  <a:pt x="446" y="14066"/>
                </a:cubicBezTo>
                <a:cubicBezTo>
                  <a:pt x="1670" y="17861"/>
                  <a:pt x="4971" y="20896"/>
                  <a:pt x="8493" y="21434"/>
                </a:cubicBezTo>
                <a:cubicBezTo>
                  <a:pt x="9080" y="21523"/>
                  <a:pt x="9449" y="21558"/>
                  <a:pt x="9846" y="21560"/>
                </a:cubicBezTo>
                <a:cubicBezTo>
                  <a:pt x="10243" y="21562"/>
                  <a:pt x="10661" y="21529"/>
                  <a:pt x="11343" y="21445"/>
                </a:cubicBezTo>
                <a:cubicBezTo>
                  <a:pt x="15089" y="20989"/>
                  <a:pt x="18485" y="18052"/>
                  <a:pt x="19686" y="14215"/>
                </a:cubicBezTo>
                <a:cubicBezTo>
                  <a:pt x="21458" y="8559"/>
                  <a:pt x="18656" y="2496"/>
                  <a:pt x="13368" y="535"/>
                </a:cubicBezTo>
                <a:cubicBezTo>
                  <a:pt x="12600" y="250"/>
                  <a:pt x="11656" y="76"/>
                  <a:pt x="10698" y="19"/>
                </a:cubicBezTo>
                <a:close/>
                <a:moveTo>
                  <a:pt x="9569" y="3359"/>
                </a:moveTo>
                <a:cubicBezTo>
                  <a:pt x="9725" y="3372"/>
                  <a:pt x="9808" y="3420"/>
                  <a:pt x="9784" y="3496"/>
                </a:cubicBezTo>
                <a:cubicBezTo>
                  <a:pt x="9724" y="3689"/>
                  <a:pt x="9661" y="3719"/>
                  <a:pt x="8852" y="4105"/>
                </a:cubicBezTo>
                <a:cubicBezTo>
                  <a:pt x="8590" y="4230"/>
                  <a:pt x="8198" y="4467"/>
                  <a:pt x="7973" y="4621"/>
                </a:cubicBezTo>
                <a:cubicBezTo>
                  <a:pt x="7533" y="4923"/>
                  <a:pt x="7319" y="4882"/>
                  <a:pt x="6943" y="4483"/>
                </a:cubicBezTo>
                <a:cubicBezTo>
                  <a:pt x="6713" y="4238"/>
                  <a:pt x="6730" y="4221"/>
                  <a:pt x="7400" y="3875"/>
                </a:cubicBezTo>
                <a:cubicBezTo>
                  <a:pt x="7807" y="3665"/>
                  <a:pt x="8428" y="3487"/>
                  <a:pt x="8932" y="3405"/>
                </a:cubicBezTo>
                <a:cubicBezTo>
                  <a:pt x="9185" y="3364"/>
                  <a:pt x="9412" y="3345"/>
                  <a:pt x="9569" y="335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70" name="International Institute of Information Technology, Naya Raipur"/>
          <p:cNvSpPr txBox="1"/>
          <p:nvPr/>
        </p:nvSpPr>
        <p:spPr>
          <a:xfrm>
            <a:off x="1614963" y="4782820"/>
            <a:ext cx="591407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271" name="Shape 1"/>
          <p:cNvSpPr/>
          <p:nvPr/>
        </p:nvSpPr>
        <p:spPr>
          <a:xfrm>
            <a:off x="320040" y="164590"/>
            <a:ext cx="54866" cy="502922"/>
          </a:xfrm>
          <a:prstGeom prst="rect">
            <a:avLst/>
          </a:prstGeom>
          <a:solidFill>
            <a:srgbClr val="1B2A7B"/>
          </a:solidFill>
          <a:ln w="12700">
            <a:solidFill>
              <a:srgbClr val="1B2A7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" name="Shape 3"/>
          <p:cNvSpPr/>
          <p:nvPr/>
        </p:nvSpPr>
        <p:spPr>
          <a:xfrm>
            <a:off x="320039" y="704088"/>
            <a:ext cx="7795750" cy="33744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0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1"/>
          <p:cNvSpPr txBox="1"/>
          <p:nvPr/>
        </p:nvSpPr>
        <p:spPr>
          <a:xfrm>
            <a:off x="8275319" y="4822751"/>
            <a:ext cx="6858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76" name="Text 4"/>
          <p:cNvSpPr txBox="1"/>
          <p:nvPr/>
        </p:nvSpPr>
        <p:spPr>
          <a:xfrm>
            <a:off x="483536" y="171075"/>
            <a:ext cx="7863841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F2473"/>
                </a:solidFill>
              </a:defRPr>
            </a:lvl1pPr>
          </a:lstStyle>
          <a:p>
            <a:pPr/>
            <a:r>
              <a:t>VIB Reduces ECE by 49% — The Key Result</a:t>
            </a:r>
          </a:p>
        </p:txBody>
      </p:sp>
      <p:sp>
        <p:nvSpPr>
          <p:cNvPr id="277" name="Text 6"/>
          <p:cNvSpPr txBox="1"/>
          <p:nvPr/>
        </p:nvSpPr>
        <p:spPr>
          <a:xfrm>
            <a:off x="404274" y="855520"/>
            <a:ext cx="78638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7474F"/>
                </a:solidFill>
              </a:defRPr>
            </a:lvl1pPr>
          </a:lstStyle>
          <a:p>
            <a:pPr/>
            <a:r>
              <a:t>Phase 3 formal evaluation: 100 held-out questions, Mistral 7B via Ollama, all methods on identical LLM output</a:t>
            </a:r>
          </a:p>
        </p:txBody>
      </p:sp>
      <p:sp>
        <p:nvSpPr>
          <p:cNvPr id="278" name="Shape 7"/>
          <p:cNvSpPr/>
          <p:nvPr/>
        </p:nvSpPr>
        <p:spPr>
          <a:xfrm>
            <a:off x="365759" y="1318767"/>
            <a:ext cx="2331722" cy="30906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8"/>
          <p:cNvSpPr txBox="1"/>
          <p:nvPr/>
        </p:nvSpPr>
        <p:spPr>
          <a:xfrm>
            <a:off x="411479" y="1427410"/>
            <a:ext cx="224028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/>
            </a:lvl1pPr>
          </a:lstStyle>
          <a:p>
            <a:pPr/>
            <a:r>
              <a:t>VIB Layer</a:t>
            </a:r>
          </a:p>
        </p:txBody>
      </p:sp>
      <p:sp>
        <p:nvSpPr>
          <p:cNvPr id="280" name="Text 9"/>
          <p:cNvSpPr txBox="1"/>
          <p:nvPr/>
        </p:nvSpPr>
        <p:spPr>
          <a:xfrm>
            <a:off x="411479" y="1681402"/>
            <a:ext cx="22402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37474F"/>
                </a:solidFill>
              </a:defRPr>
            </a:lvl1pPr>
          </a:lstStyle>
          <a:p>
            <a:pPr/>
            <a:r>
              <a:t>reduces ECE by</a:t>
            </a:r>
          </a:p>
        </p:txBody>
      </p:sp>
      <p:sp>
        <p:nvSpPr>
          <p:cNvPr id="281" name="Text 10"/>
          <p:cNvSpPr txBox="1"/>
          <p:nvPr/>
        </p:nvSpPr>
        <p:spPr>
          <a:xfrm>
            <a:off x="411479" y="1824321"/>
            <a:ext cx="2240282" cy="1092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7800"/>
            </a:lvl1pPr>
          </a:lstStyle>
          <a:p>
            <a:pPr/>
            <a:r>
              <a:t>49%</a:t>
            </a:r>
          </a:p>
        </p:txBody>
      </p:sp>
      <p:sp>
        <p:nvSpPr>
          <p:cNvPr id="282" name="Text 11"/>
          <p:cNvSpPr txBox="1"/>
          <p:nvPr/>
        </p:nvSpPr>
        <p:spPr>
          <a:xfrm>
            <a:off x="411479" y="2874580"/>
            <a:ext cx="224028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/>
            </a:lvl1pPr>
          </a:lstStyle>
          <a:p>
            <a:pPr/>
            <a:r>
              <a:t>0.2945 → 0.1501</a:t>
            </a:r>
          </a:p>
        </p:txBody>
      </p:sp>
      <p:sp>
        <p:nvSpPr>
          <p:cNvPr id="283" name="Text 12"/>
          <p:cNvSpPr txBox="1"/>
          <p:nvPr/>
        </p:nvSpPr>
        <p:spPr>
          <a:xfrm>
            <a:off x="411479" y="3211366"/>
            <a:ext cx="224028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i="1" sz="1000">
                <a:solidFill>
                  <a:srgbClr val="37474F"/>
                </a:solidFill>
              </a:defRPr>
            </a:pPr>
            <a:r>
              <a:t>Only method to achieve</a:t>
            </a:r>
          </a:p>
          <a:p>
            <a:pPr algn="ctr">
              <a:defRPr i="1" sz="1000">
                <a:solidFill>
                  <a:srgbClr val="37474F"/>
                </a:solidFill>
              </a:defRPr>
            </a:pPr>
            <a:r>
              <a:t>negative calibration gap</a:t>
            </a:r>
          </a:p>
        </p:txBody>
      </p:sp>
      <p:sp>
        <p:nvSpPr>
          <p:cNvPr id="284" name="Text 13"/>
          <p:cNvSpPr txBox="1"/>
          <p:nvPr/>
        </p:nvSpPr>
        <p:spPr>
          <a:xfrm>
            <a:off x="411479" y="3645207"/>
            <a:ext cx="224028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/>
            </a:lvl1pPr>
          </a:lstStyle>
          <a:p>
            <a:pPr/>
            <a:r>
              <a:t>−0.081 vs +0.166</a:t>
            </a:r>
          </a:p>
        </p:txBody>
      </p:sp>
      <p:sp>
        <p:nvSpPr>
          <p:cNvPr id="285" name="Text 14"/>
          <p:cNvSpPr txBox="1"/>
          <p:nvPr/>
        </p:nvSpPr>
        <p:spPr>
          <a:xfrm>
            <a:off x="411479" y="3931579"/>
            <a:ext cx="22402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90A4AE"/>
                </a:solidFill>
              </a:defRPr>
            </a:lvl1pPr>
          </a:lstStyle>
          <a:p>
            <a:pPr/>
            <a:r>
              <a:t>(Softmax baseline)</a:t>
            </a:r>
          </a:p>
        </p:txBody>
      </p:sp>
      <p:sp>
        <p:nvSpPr>
          <p:cNvPr id="286" name="Shape 15"/>
          <p:cNvSpPr/>
          <p:nvPr/>
        </p:nvSpPr>
        <p:spPr>
          <a:xfrm>
            <a:off x="6812280" y="1318767"/>
            <a:ext cx="2011680" cy="309067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satOff val="-3547"/>
                <a:lumOff val="-10352"/>
              </a:schemeClr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Shape 16"/>
          <p:cNvSpPr/>
          <p:nvPr/>
        </p:nvSpPr>
        <p:spPr>
          <a:xfrm>
            <a:off x="6812280" y="1318767"/>
            <a:ext cx="2011680" cy="347473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17"/>
          <p:cNvSpPr txBox="1"/>
          <p:nvPr/>
        </p:nvSpPr>
        <p:spPr>
          <a:xfrm>
            <a:off x="6858000" y="1378248"/>
            <a:ext cx="19202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Per-Task VIB ECE</a:t>
            </a:r>
          </a:p>
        </p:txBody>
      </p:sp>
      <p:sp>
        <p:nvSpPr>
          <p:cNvPr id="289" name="Shape 18"/>
          <p:cNvSpPr/>
          <p:nvPr/>
        </p:nvSpPr>
        <p:spPr>
          <a:xfrm>
            <a:off x="6876287" y="1739392"/>
            <a:ext cx="1883666" cy="566929"/>
          </a:xfrm>
          <a:prstGeom prst="rect">
            <a:avLst/>
          </a:prstGeom>
          <a:solidFill>
            <a:srgbClr val="F5F6FA"/>
          </a:solidFill>
          <a:ln w="12700">
            <a:solidFill>
              <a:schemeClr val="accent1">
                <a:satOff val="-3547"/>
                <a:lumOff val="-10352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Text 19"/>
          <p:cNvSpPr txBox="1"/>
          <p:nvPr/>
        </p:nvSpPr>
        <p:spPr>
          <a:xfrm>
            <a:off x="6976872" y="1771440"/>
            <a:ext cx="166420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37474F"/>
                </a:solidFill>
              </a:defRPr>
            </a:lvl1pPr>
          </a:lstStyle>
          <a:p>
            <a:pPr/>
            <a:r>
              <a:t>Fraud Detection</a:t>
            </a:r>
          </a:p>
        </p:txBody>
      </p:sp>
      <p:sp>
        <p:nvSpPr>
          <p:cNvPr id="291" name="Text 20"/>
          <p:cNvSpPr txBox="1"/>
          <p:nvPr/>
        </p:nvSpPr>
        <p:spPr>
          <a:xfrm>
            <a:off x="6976872" y="2003859"/>
            <a:ext cx="166420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/>
            </a:lvl1pPr>
          </a:lstStyle>
          <a:p>
            <a:pPr/>
            <a:r>
              <a:t>ECE = 0.076</a:t>
            </a:r>
          </a:p>
        </p:txBody>
      </p:sp>
      <p:sp>
        <p:nvSpPr>
          <p:cNvPr id="292" name="Shape 21"/>
          <p:cNvSpPr/>
          <p:nvPr/>
        </p:nvSpPr>
        <p:spPr>
          <a:xfrm>
            <a:off x="6876287" y="2397760"/>
            <a:ext cx="1883666" cy="566929"/>
          </a:xfrm>
          <a:prstGeom prst="rect">
            <a:avLst/>
          </a:prstGeom>
          <a:solidFill>
            <a:srgbClr val="F5F6FA"/>
          </a:solidFill>
          <a:ln w="12700">
            <a:solidFill>
              <a:schemeClr val="accent1">
                <a:satOff val="-3547"/>
                <a:lumOff val="-10352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Text 22"/>
          <p:cNvSpPr txBox="1"/>
          <p:nvPr/>
        </p:nvSpPr>
        <p:spPr>
          <a:xfrm>
            <a:off x="6976872" y="2429808"/>
            <a:ext cx="166420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37474F"/>
                </a:solidFill>
              </a:defRPr>
            </a:lvl1pPr>
          </a:lstStyle>
          <a:p>
            <a:pPr/>
            <a:r>
              <a:t>Risk Classification</a:t>
            </a:r>
          </a:p>
        </p:txBody>
      </p:sp>
      <p:sp>
        <p:nvSpPr>
          <p:cNvPr id="294" name="Text 23"/>
          <p:cNvSpPr txBox="1"/>
          <p:nvPr/>
        </p:nvSpPr>
        <p:spPr>
          <a:xfrm>
            <a:off x="6976872" y="2662227"/>
            <a:ext cx="166420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/>
            </a:lvl1pPr>
          </a:lstStyle>
          <a:p>
            <a:pPr/>
            <a:r>
              <a:t>ECE = 0.116</a:t>
            </a:r>
          </a:p>
        </p:txBody>
      </p:sp>
      <p:sp>
        <p:nvSpPr>
          <p:cNvPr id="295" name="Shape 24"/>
          <p:cNvSpPr/>
          <p:nvPr/>
        </p:nvSpPr>
        <p:spPr>
          <a:xfrm>
            <a:off x="6876287" y="3056128"/>
            <a:ext cx="1883666" cy="566929"/>
          </a:xfrm>
          <a:prstGeom prst="rect">
            <a:avLst/>
          </a:prstGeom>
          <a:solidFill>
            <a:srgbClr val="F5F6FA"/>
          </a:solidFill>
          <a:ln w="12700">
            <a:solidFill>
              <a:schemeClr val="accent1">
                <a:satOff val="-3547"/>
                <a:lumOff val="-10352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25"/>
          <p:cNvSpPr txBox="1"/>
          <p:nvPr/>
        </p:nvSpPr>
        <p:spPr>
          <a:xfrm>
            <a:off x="6976872" y="3088176"/>
            <a:ext cx="166420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37474F"/>
                </a:solidFill>
              </a:defRPr>
            </a:lvl1pPr>
          </a:lstStyle>
          <a:p>
            <a:pPr/>
            <a:r>
              <a:t>Premium Estimation</a:t>
            </a:r>
          </a:p>
        </p:txBody>
      </p:sp>
      <p:sp>
        <p:nvSpPr>
          <p:cNvPr id="297" name="Text 26"/>
          <p:cNvSpPr txBox="1"/>
          <p:nvPr/>
        </p:nvSpPr>
        <p:spPr>
          <a:xfrm>
            <a:off x="6976872" y="3320595"/>
            <a:ext cx="166420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/>
            </a:lvl1pPr>
          </a:lstStyle>
          <a:p>
            <a:pPr/>
            <a:r>
              <a:t>ECE = 0.324</a:t>
            </a:r>
          </a:p>
        </p:txBody>
      </p:sp>
      <p:sp>
        <p:nvSpPr>
          <p:cNvPr id="298" name="Shape 27"/>
          <p:cNvSpPr/>
          <p:nvPr/>
        </p:nvSpPr>
        <p:spPr>
          <a:xfrm>
            <a:off x="6876287" y="3714496"/>
            <a:ext cx="1883666" cy="566929"/>
          </a:xfrm>
          <a:prstGeom prst="rect">
            <a:avLst/>
          </a:prstGeom>
          <a:solidFill>
            <a:srgbClr val="F5F6FA"/>
          </a:solidFill>
          <a:ln w="12700">
            <a:solidFill>
              <a:schemeClr val="accent1">
                <a:satOff val="-3547"/>
                <a:lumOff val="-10352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28"/>
          <p:cNvSpPr txBox="1"/>
          <p:nvPr/>
        </p:nvSpPr>
        <p:spPr>
          <a:xfrm>
            <a:off x="6976872" y="3746544"/>
            <a:ext cx="166420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37474F"/>
                </a:solidFill>
              </a:defRPr>
            </a:lvl1pPr>
          </a:lstStyle>
          <a:p>
            <a:pPr/>
            <a:r>
              <a:t>Policy Compliance</a:t>
            </a:r>
          </a:p>
        </p:txBody>
      </p:sp>
      <p:sp>
        <p:nvSpPr>
          <p:cNvPr id="300" name="Text 29"/>
          <p:cNvSpPr txBox="1"/>
          <p:nvPr/>
        </p:nvSpPr>
        <p:spPr>
          <a:xfrm>
            <a:off x="6976872" y="3978963"/>
            <a:ext cx="1664209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/>
            </a:lvl1pPr>
          </a:lstStyle>
          <a:p>
            <a:pPr/>
            <a:r>
              <a:t>ECE = 0.440</a:t>
            </a:r>
          </a:p>
        </p:txBody>
      </p:sp>
      <p:pic>
        <p:nvPicPr>
          <p:cNvPr id="30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22" t="22155" r="1475" b="7642"/>
          <a:stretch>
            <a:fillRect/>
          </a:stretch>
        </p:blipFill>
        <p:spPr>
          <a:xfrm>
            <a:off x="8111138" y="66252"/>
            <a:ext cx="895347" cy="745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7" h="21560" fill="norm" stroke="1" extrusionOk="0">
                <a:moveTo>
                  <a:pt x="10698" y="19"/>
                </a:moveTo>
                <a:cubicBezTo>
                  <a:pt x="9739" y="-38"/>
                  <a:pt x="8773" y="36"/>
                  <a:pt x="7947" y="226"/>
                </a:cubicBezTo>
                <a:cubicBezTo>
                  <a:pt x="6592" y="538"/>
                  <a:pt x="4659" y="1505"/>
                  <a:pt x="3582" y="2441"/>
                </a:cubicBezTo>
                <a:cubicBezTo>
                  <a:pt x="1996" y="3819"/>
                  <a:pt x="610" y="6270"/>
                  <a:pt x="177" y="8443"/>
                </a:cubicBezTo>
                <a:cubicBezTo>
                  <a:pt x="-142" y="10043"/>
                  <a:pt x="-15" y="12635"/>
                  <a:pt x="446" y="14066"/>
                </a:cubicBezTo>
                <a:cubicBezTo>
                  <a:pt x="1670" y="17861"/>
                  <a:pt x="4971" y="20896"/>
                  <a:pt x="8493" y="21434"/>
                </a:cubicBezTo>
                <a:cubicBezTo>
                  <a:pt x="9080" y="21523"/>
                  <a:pt x="9449" y="21558"/>
                  <a:pt x="9846" y="21560"/>
                </a:cubicBezTo>
                <a:cubicBezTo>
                  <a:pt x="10243" y="21562"/>
                  <a:pt x="10661" y="21529"/>
                  <a:pt x="11343" y="21445"/>
                </a:cubicBezTo>
                <a:cubicBezTo>
                  <a:pt x="15089" y="20989"/>
                  <a:pt x="18485" y="18052"/>
                  <a:pt x="19686" y="14215"/>
                </a:cubicBezTo>
                <a:cubicBezTo>
                  <a:pt x="21458" y="8559"/>
                  <a:pt x="18656" y="2496"/>
                  <a:pt x="13368" y="535"/>
                </a:cubicBezTo>
                <a:cubicBezTo>
                  <a:pt x="12600" y="250"/>
                  <a:pt x="11656" y="76"/>
                  <a:pt x="10698" y="19"/>
                </a:cubicBezTo>
                <a:close/>
                <a:moveTo>
                  <a:pt x="9569" y="3359"/>
                </a:moveTo>
                <a:cubicBezTo>
                  <a:pt x="9725" y="3372"/>
                  <a:pt x="9808" y="3420"/>
                  <a:pt x="9784" y="3496"/>
                </a:cubicBezTo>
                <a:cubicBezTo>
                  <a:pt x="9724" y="3689"/>
                  <a:pt x="9661" y="3719"/>
                  <a:pt x="8852" y="4105"/>
                </a:cubicBezTo>
                <a:cubicBezTo>
                  <a:pt x="8590" y="4230"/>
                  <a:pt x="8198" y="4467"/>
                  <a:pt x="7973" y="4621"/>
                </a:cubicBezTo>
                <a:cubicBezTo>
                  <a:pt x="7533" y="4923"/>
                  <a:pt x="7319" y="4882"/>
                  <a:pt x="6943" y="4483"/>
                </a:cubicBezTo>
                <a:cubicBezTo>
                  <a:pt x="6713" y="4238"/>
                  <a:pt x="6730" y="4221"/>
                  <a:pt x="7400" y="3875"/>
                </a:cubicBezTo>
                <a:cubicBezTo>
                  <a:pt x="7807" y="3665"/>
                  <a:pt x="8428" y="3487"/>
                  <a:pt x="8932" y="3405"/>
                </a:cubicBezTo>
                <a:cubicBezTo>
                  <a:pt x="9185" y="3364"/>
                  <a:pt x="9412" y="3345"/>
                  <a:pt x="9569" y="3359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302" name="Screenshot 2026-05-17 at 11.37.09 PM.png" descr="Screenshot 2026-05-17 at 11.37.0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92961" y="1261252"/>
            <a:ext cx="3923839" cy="3143661"/>
          </a:xfrm>
          <a:prstGeom prst="rect">
            <a:avLst/>
          </a:prstGeom>
          <a:ln w="12700">
            <a:miter lim="400000"/>
          </a:ln>
        </p:spPr>
      </p:pic>
      <p:sp>
        <p:nvSpPr>
          <p:cNvPr id="303" name="International Institute of Information Technology, Naya Raipur"/>
          <p:cNvSpPr txBox="1"/>
          <p:nvPr/>
        </p:nvSpPr>
        <p:spPr>
          <a:xfrm>
            <a:off x="1614963" y="4782820"/>
            <a:ext cx="591407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304" name="Shape 1"/>
          <p:cNvSpPr/>
          <p:nvPr/>
        </p:nvSpPr>
        <p:spPr>
          <a:xfrm>
            <a:off x="320040" y="164590"/>
            <a:ext cx="54866" cy="502922"/>
          </a:xfrm>
          <a:prstGeom prst="rect">
            <a:avLst/>
          </a:prstGeom>
          <a:solidFill>
            <a:srgbClr val="1B2A7B"/>
          </a:solidFill>
          <a:ln w="12700">
            <a:solidFill>
              <a:srgbClr val="1B2A7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5" name="Shape 3"/>
          <p:cNvSpPr/>
          <p:nvPr/>
        </p:nvSpPr>
        <p:spPr>
          <a:xfrm>
            <a:off x="320039" y="704088"/>
            <a:ext cx="7795750" cy="33744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1"/>
          <p:cNvSpPr txBox="1"/>
          <p:nvPr/>
        </p:nvSpPr>
        <p:spPr>
          <a:xfrm>
            <a:off x="8275319" y="4822751"/>
            <a:ext cx="68580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309" name="Text 4"/>
          <p:cNvSpPr txBox="1"/>
          <p:nvPr/>
        </p:nvSpPr>
        <p:spPr>
          <a:xfrm>
            <a:off x="411479" y="171075"/>
            <a:ext cx="7863842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F2473"/>
                </a:solidFill>
              </a:defRPr>
            </a:lvl1pPr>
          </a:lstStyle>
          <a:p>
            <a:pPr/>
            <a:r>
              <a:t>Where This Work Fits</a:t>
            </a:r>
          </a:p>
        </p:txBody>
      </p:sp>
      <p:sp>
        <p:nvSpPr>
          <p:cNvPr id="310" name="Text 6"/>
          <p:cNvSpPr txBox="1"/>
          <p:nvPr/>
        </p:nvSpPr>
        <p:spPr>
          <a:xfrm>
            <a:off x="411479" y="829533"/>
            <a:ext cx="786384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7474F"/>
                </a:solidFill>
              </a:defRPr>
            </a:lvl1pPr>
          </a:lstStyle>
          <a:p>
            <a:pPr/>
            <a:r>
              <a:t>This project is Stage 3 of a 5-stage research thread on Information-Aware Agentic LLM Training</a:t>
            </a:r>
          </a:p>
        </p:txBody>
      </p:sp>
      <p:sp>
        <p:nvSpPr>
          <p:cNvPr id="311" name="Shape 7"/>
          <p:cNvSpPr/>
          <p:nvPr/>
        </p:nvSpPr>
        <p:spPr>
          <a:xfrm>
            <a:off x="365759" y="1193799"/>
            <a:ext cx="8412482" cy="5852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Shape 8"/>
          <p:cNvSpPr/>
          <p:nvPr/>
        </p:nvSpPr>
        <p:spPr>
          <a:xfrm>
            <a:off x="365759" y="1193799"/>
            <a:ext cx="475488" cy="585218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Text 9"/>
          <p:cNvSpPr txBox="1"/>
          <p:nvPr/>
        </p:nvSpPr>
        <p:spPr>
          <a:xfrm>
            <a:off x="411479" y="1319864"/>
            <a:ext cx="3840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14" name="Text 10"/>
          <p:cNvSpPr txBox="1"/>
          <p:nvPr/>
        </p:nvSpPr>
        <p:spPr>
          <a:xfrm>
            <a:off x="1005839" y="1252526"/>
            <a:ext cx="5394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F2473"/>
                </a:solidFill>
              </a:defRPr>
            </a:lvl1pPr>
          </a:lstStyle>
          <a:p>
            <a:pPr/>
            <a:r>
              <a:t>IB Theory + Information Plane</a:t>
            </a:r>
          </a:p>
        </p:txBody>
      </p:sp>
      <p:sp>
        <p:nvSpPr>
          <p:cNvPr id="315" name="Text 11"/>
          <p:cNvSpPr txBox="1"/>
          <p:nvPr/>
        </p:nvSpPr>
        <p:spPr>
          <a:xfrm>
            <a:off x="1005839" y="1518456"/>
            <a:ext cx="5394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0A4AE"/>
                </a:solidFill>
              </a:defRPr>
            </a:lvl1pPr>
          </a:lstStyle>
          <a:p>
            <a:pPr/>
            <a:r>
              <a:t>Visualized compression-error tradeoff on GPT-2 — established IB framework</a:t>
            </a:r>
          </a:p>
        </p:txBody>
      </p:sp>
      <p:sp>
        <p:nvSpPr>
          <p:cNvPr id="316" name="Shape 12"/>
          <p:cNvSpPr/>
          <p:nvPr/>
        </p:nvSpPr>
        <p:spPr>
          <a:xfrm>
            <a:off x="6583680" y="1285239"/>
            <a:ext cx="2057401" cy="40233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 13"/>
          <p:cNvSpPr txBox="1"/>
          <p:nvPr/>
        </p:nvSpPr>
        <p:spPr>
          <a:xfrm>
            <a:off x="6629400" y="1355409"/>
            <a:ext cx="196596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Complete</a:t>
            </a:r>
          </a:p>
        </p:txBody>
      </p:sp>
      <p:sp>
        <p:nvSpPr>
          <p:cNvPr id="318" name="Shape 14"/>
          <p:cNvSpPr/>
          <p:nvPr/>
        </p:nvSpPr>
        <p:spPr>
          <a:xfrm>
            <a:off x="365759" y="1852167"/>
            <a:ext cx="8412482" cy="58521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Shape 15"/>
          <p:cNvSpPr/>
          <p:nvPr/>
        </p:nvSpPr>
        <p:spPr>
          <a:xfrm>
            <a:off x="365759" y="1852167"/>
            <a:ext cx="475488" cy="58521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16"/>
          <p:cNvSpPr txBox="1"/>
          <p:nvPr/>
        </p:nvSpPr>
        <p:spPr>
          <a:xfrm>
            <a:off x="411479" y="1978232"/>
            <a:ext cx="3840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1" name="Text 17"/>
          <p:cNvSpPr txBox="1"/>
          <p:nvPr/>
        </p:nvSpPr>
        <p:spPr>
          <a:xfrm>
            <a:off x="1005839" y="1910895"/>
            <a:ext cx="5394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0F2473"/>
                </a:solidFill>
              </a:defRPr>
            </a:lvl1pPr>
          </a:lstStyle>
          <a:p>
            <a:pPr/>
            <a:r>
              <a:t>Silent Inference Degradation</a:t>
            </a:r>
          </a:p>
        </p:txBody>
      </p:sp>
      <p:sp>
        <p:nvSpPr>
          <p:cNvPr id="322" name="Text 18"/>
          <p:cNvSpPr txBox="1"/>
          <p:nvPr/>
        </p:nvSpPr>
        <p:spPr>
          <a:xfrm>
            <a:off x="1005839" y="2176824"/>
            <a:ext cx="5394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0A4AE"/>
                </a:solidFill>
              </a:defRPr>
            </a:lvl1pPr>
          </a:lstStyle>
          <a:p>
            <a:pPr/>
            <a:r>
              <a:t>72% KL-divergence reduction, 31× layer displacement under INT4 quantization</a:t>
            </a:r>
          </a:p>
        </p:txBody>
      </p:sp>
      <p:sp>
        <p:nvSpPr>
          <p:cNvPr id="323" name="Shape 19"/>
          <p:cNvSpPr/>
          <p:nvPr/>
        </p:nvSpPr>
        <p:spPr>
          <a:xfrm>
            <a:off x="6583680" y="1943607"/>
            <a:ext cx="2057401" cy="40233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0"/>
          <p:cNvSpPr txBox="1"/>
          <p:nvPr/>
        </p:nvSpPr>
        <p:spPr>
          <a:xfrm>
            <a:off x="6629400" y="2013777"/>
            <a:ext cx="196596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 </a:t>
            </a:r>
            <a:r>
              <a:t>Complete</a:t>
            </a:r>
          </a:p>
        </p:txBody>
      </p:sp>
      <p:sp>
        <p:nvSpPr>
          <p:cNvPr id="325" name="Shape 21"/>
          <p:cNvSpPr/>
          <p:nvPr/>
        </p:nvSpPr>
        <p:spPr>
          <a:xfrm>
            <a:off x="365759" y="2510535"/>
            <a:ext cx="8412482" cy="58521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Shape 22"/>
          <p:cNvSpPr/>
          <p:nvPr/>
        </p:nvSpPr>
        <p:spPr>
          <a:xfrm>
            <a:off x="365759" y="2510535"/>
            <a:ext cx="475488" cy="58521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Text 23"/>
          <p:cNvSpPr txBox="1"/>
          <p:nvPr/>
        </p:nvSpPr>
        <p:spPr>
          <a:xfrm>
            <a:off x="411479" y="2636600"/>
            <a:ext cx="3840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28" name="Text 24"/>
          <p:cNvSpPr txBox="1"/>
          <p:nvPr/>
        </p:nvSpPr>
        <p:spPr>
          <a:xfrm>
            <a:off x="1005839" y="2564314"/>
            <a:ext cx="5394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0F2473"/>
                </a:solidFill>
              </a:defRPr>
            </a:lvl1pPr>
          </a:lstStyle>
          <a:p>
            <a:pPr/>
            <a:r>
              <a:t>Miscalibration + VIB Fix (This)</a:t>
            </a:r>
          </a:p>
        </p:txBody>
      </p:sp>
      <p:sp>
        <p:nvSpPr>
          <p:cNvPr id="329" name="Text 25"/>
          <p:cNvSpPr txBox="1"/>
          <p:nvPr/>
        </p:nvSpPr>
        <p:spPr>
          <a:xfrm>
            <a:off x="1005839" y="2835192"/>
            <a:ext cx="5394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0A4AE"/>
                </a:solidFill>
              </a:defRPr>
            </a:lvl1pPr>
          </a:lstStyle>
          <a:p>
            <a:pPr/>
            <a:r>
              <a:t>5-agent MAS — VIB layer reduces ECE 49% — POMDP belief-state decisions</a:t>
            </a:r>
          </a:p>
        </p:txBody>
      </p:sp>
      <p:sp>
        <p:nvSpPr>
          <p:cNvPr id="330" name="Shape 26"/>
          <p:cNvSpPr/>
          <p:nvPr/>
        </p:nvSpPr>
        <p:spPr>
          <a:xfrm>
            <a:off x="6583680" y="2601976"/>
            <a:ext cx="2057401" cy="40233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27"/>
          <p:cNvSpPr txBox="1"/>
          <p:nvPr/>
        </p:nvSpPr>
        <p:spPr>
          <a:xfrm>
            <a:off x="6629400" y="2675318"/>
            <a:ext cx="1965961" cy="25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◉  This Work</a:t>
            </a:r>
          </a:p>
        </p:txBody>
      </p:sp>
      <p:sp>
        <p:nvSpPr>
          <p:cNvPr id="332" name="Shape 28"/>
          <p:cNvSpPr/>
          <p:nvPr/>
        </p:nvSpPr>
        <p:spPr>
          <a:xfrm>
            <a:off x="365759" y="3168903"/>
            <a:ext cx="8412482" cy="58521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Shape 29"/>
          <p:cNvSpPr/>
          <p:nvPr/>
        </p:nvSpPr>
        <p:spPr>
          <a:xfrm>
            <a:off x="365759" y="3168903"/>
            <a:ext cx="475488" cy="58521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30"/>
          <p:cNvSpPr txBox="1"/>
          <p:nvPr/>
        </p:nvSpPr>
        <p:spPr>
          <a:xfrm>
            <a:off x="411479" y="3294968"/>
            <a:ext cx="3840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35" name="Text 31"/>
          <p:cNvSpPr txBox="1"/>
          <p:nvPr/>
        </p:nvSpPr>
        <p:spPr>
          <a:xfrm>
            <a:off x="1005839" y="3227631"/>
            <a:ext cx="53949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90A4AE"/>
                </a:solidFill>
              </a:defRPr>
            </a:lvl1pPr>
          </a:lstStyle>
          <a:p>
            <a:pPr/>
            <a:r>
              <a:t>POMDP + SAC Deep RL Agent</a:t>
            </a:r>
          </a:p>
        </p:txBody>
      </p:sp>
      <p:sp>
        <p:nvSpPr>
          <p:cNvPr id="336" name="Text 32"/>
          <p:cNvSpPr txBox="1"/>
          <p:nvPr/>
        </p:nvSpPr>
        <p:spPr>
          <a:xfrm>
            <a:off x="1005839" y="3493560"/>
            <a:ext cx="5394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0A4AE"/>
                </a:solidFill>
              </a:defRPr>
            </a:lvl1pPr>
          </a:lstStyle>
          <a:p>
            <a:pPr/>
            <a:r>
              <a:t>Replace rule-based thresholds with a trained policy — VIB σ as observation space</a:t>
            </a:r>
          </a:p>
        </p:txBody>
      </p:sp>
      <p:sp>
        <p:nvSpPr>
          <p:cNvPr id="337" name="Shape 33"/>
          <p:cNvSpPr/>
          <p:nvPr/>
        </p:nvSpPr>
        <p:spPr>
          <a:xfrm>
            <a:off x="6583680" y="3260344"/>
            <a:ext cx="2057401" cy="40233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34"/>
          <p:cNvSpPr txBox="1"/>
          <p:nvPr/>
        </p:nvSpPr>
        <p:spPr>
          <a:xfrm>
            <a:off x="6629400" y="3348658"/>
            <a:ext cx="19659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↗  Next</a:t>
            </a:r>
          </a:p>
        </p:txBody>
      </p:sp>
      <p:sp>
        <p:nvSpPr>
          <p:cNvPr id="339" name="Shape 35"/>
          <p:cNvSpPr/>
          <p:nvPr/>
        </p:nvSpPr>
        <p:spPr>
          <a:xfrm>
            <a:off x="365759" y="3827271"/>
            <a:ext cx="8412482" cy="58521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Shape 36"/>
          <p:cNvSpPr/>
          <p:nvPr/>
        </p:nvSpPr>
        <p:spPr>
          <a:xfrm>
            <a:off x="365759" y="3827271"/>
            <a:ext cx="475488" cy="58521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Text 37"/>
          <p:cNvSpPr txBox="1"/>
          <p:nvPr/>
        </p:nvSpPr>
        <p:spPr>
          <a:xfrm>
            <a:off x="411479" y="3953336"/>
            <a:ext cx="384048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42" name="Text 38"/>
          <p:cNvSpPr txBox="1"/>
          <p:nvPr/>
        </p:nvSpPr>
        <p:spPr>
          <a:xfrm>
            <a:off x="1005839" y="3885998"/>
            <a:ext cx="5394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90A4AE"/>
                </a:solidFill>
              </a:defRPr>
            </a:lvl1pPr>
          </a:lstStyle>
          <a:p>
            <a:pPr/>
            <a:r>
              <a:t>CALM Curiosity-Driven Exploration</a:t>
            </a:r>
          </a:p>
        </p:txBody>
      </p:sp>
      <p:sp>
        <p:nvSpPr>
          <p:cNvPr id="343" name="Text 39"/>
          <p:cNvSpPr txBox="1"/>
          <p:nvPr/>
        </p:nvSpPr>
        <p:spPr>
          <a:xfrm>
            <a:off x="1005839" y="4151928"/>
            <a:ext cx="5394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0A4AE"/>
                </a:solidFill>
              </a:defRPr>
            </a:lvl1pPr>
          </a:lstStyle>
          <a:p>
            <a:pPr/>
            <a:r>
              <a:t>Active uncertainty resolution — agent asks questions to reduce σ before deciding</a:t>
            </a:r>
          </a:p>
        </p:txBody>
      </p:sp>
      <p:sp>
        <p:nvSpPr>
          <p:cNvPr id="344" name="Shape 40"/>
          <p:cNvSpPr/>
          <p:nvPr/>
        </p:nvSpPr>
        <p:spPr>
          <a:xfrm>
            <a:off x="6583680" y="3918711"/>
            <a:ext cx="2057401" cy="40233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ext 41"/>
          <p:cNvSpPr txBox="1"/>
          <p:nvPr/>
        </p:nvSpPr>
        <p:spPr>
          <a:xfrm>
            <a:off x="6629400" y="3988881"/>
            <a:ext cx="196596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◇  Future</a:t>
            </a:r>
          </a:p>
        </p:txBody>
      </p:sp>
      <p:pic>
        <p:nvPicPr>
          <p:cNvPr id="34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22" t="22155" r="1475" b="7642"/>
          <a:stretch>
            <a:fillRect/>
          </a:stretch>
        </p:blipFill>
        <p:spPr>
          <a:xfrm>
            <a:off x="8111138" y="66252"/>
            <a:ext cx="895347" cy="7455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17" h="21560" fill="norm" stroke="1" extrusionOk="0">
                <a:moveTo>
                  <a:pt x="10698" y="19"/>
                </a:moveTo>
                <a:cubicBezTo>
                  <a:pt x="9739" y="-38"/>
                  <a:pt x="8773" y="36"/>
                  <a:pt x="7947" y="226"/>
                </a:cubicBezTo>
                <a:cubicBezTo>
                  <a:pt x="6592" y="538"/>
                  <a:pt x="4659" y="1505"/>
                  <a:pt x="3582" y="2441"/>
                </a:cubicBezTo>
                <a:cubicBezTo>
                  <a:pt x="1996" y="3819"/>
                  <a:pt x="610" y="6270"/>
                  <a:pt x="177" y="8443"/>
                </a:cubicBezTo>
                <a:cubicBezTo>
                  <a:pt x="-142" y="10043"/>
                  <a:pt x="-15" y="12635"/>
                  <a:pt x="446" y="14066"/>
                </a:cubicBezTo>
                <a:cubicBezTo>
                  <a:pt x="1670" y="17861"/>
                  <a:pt x="4971" y="20896"/>
                  <a:pt x="8493" y="21434"/>
                </a:cubicBezTo>
                <a:cubicBezTo>
                  <a:pt x="9080" y="21523"/>
                  <a:pt x="9449" y="21558"/>
                  <a:pt x="9846" y="21560"/>
                </a:cubicBezTo>
                <a:cubicBezTo>
                  <a:pt x="10243" y="21562"/>
                  <a:pt x="10661" y="21529"/>
                  <a:pt x="11343" y="21445"/>
                </a:cubicBezTo>
                <a:cubicBezTo>
                  <a:pt x="15089" y="20989"/>
                  <a:pt x="18485" y="18052"/>
                  <a:pt x="19686" y="14215"/>
                </a:cubicBezTo>
                <a:cubicBezTo>
                  <a:pt x="21458" y="8559"/>
                  <a:pt x="18656" y="2496"/>
                  <a:pt x="13368" y="535"/>
                </a:cubicBezTo>
                <a:cubicBezTo>
                  <a:pt x="12600" y="250"/>
                  <a:pt x="11656" y="76"/>
                  <a:pt x="10698" y="19"/>
                </a:cubicBezTo>
                <a:close/>
                <a:moveTo>
                  <a:pt x="9569" y="3359"/>
                </a:moveTo>
                <a:cubicBezTo>
                  <a:pt x="9725" y="3372"/>
                  <a:pt x="9808" y="3420"/>
                  <a:pt x="9784" y="3496"/>
                </a:cubicBezTo>
                <a:cubicBezTo>
                  <a:pt x="9724" y="3689"/>
                  <a:pt x="9661" y="3719"/>
                  <a:pt x="8852" y="4105"/>
                </a:cubicBezTo>
                <a:cubicBezTo>
                  <a:pt x="8590" y="4230"/>
                  <a:pt x="8198" y="4467"/>
                  <a:pt x="7973" y="4621"/>
                </a:cubicBezTo>
                <a:cubicBezTo>
                  <a:pt x="7533" y="4923"/>
                  <a:pt x="7319" y="4882"/>
                  <a:pt x="6943" y="4483"/>
                </a:cubicBezTo>
                <a:cubicBezTo>
                  <a:pt x="6713" y="4238"/>
                  <a:pt x="6730" y="4221"/>
                  <a:pt x="7400" y="3875"/>
                </a:cubicBezTo>
                <a:cubicBezTo>
                  <a:pt x="7807" y="3665"/>
                  <a:pt x="8428" y="3487"/>
                  <a:pt x="8932" y="3405"/>
                </a:cubicBezTo>
                <a:cubicBezTo>
                  <a:pt x="9185" y="3364"/>
                  <a:pt x="9412" y="3345"/>
                  <a:pt x="9569" y="335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47" name="International Institute of Information Technology, Naya Raipur"/>
          <p:cNvSpPr txBox="1"/>
          <p:nvPr/>
        </p:nvSpPr>
        <p:spPr>
          <a:xfrm>
            <a:off x="1614963" y="4782820"/>
            <a:ext cx="591407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  <p:sp>
        <p:nvSpPr>
          <p:cNvPr id="348" name="Shape 3"/>
          <p:cNvSpPr/>
          <p:nvPr/>
        </p:nvSpPr>
        <p:spPr>
          <a:xfrm>
            <a:off x="320039" y="704088"/>
            <a:ext cx="7795750" cy="33744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9" name="Shape 1"/>
          <p:cNvSpPr/>
          <p:nvPr/>
        </p:nvSpPr>
        <p:spPr>
          <a:xfrm>
            <a:off x="320040" y="164590"/>
            <a:ext cx="54866" cy="502922"/>
          </a:xfrm>
          <a:prstGeom prst="rect">
            <a:avLst/>
          </a:prstGeom>
          <a:solidFill>
            <a:srgbClr val="1B2A7B"/>
          </a:solidFill>
          <a:ln w="12700">
            <a:solidFill>
              <a:srgbClr val="1B2A7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0"/>
          <p:cNvSpPr/>
          <p:nvPr/>
        </p:nvSpPr>
        <p:spPr>
          <a:xfrm>
            <a:off x="0" y="-1"/>
            <a:ext cx="9144000" cy="3321477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 1"/>
          <p:cNvSpPr txBox="1"/>
          <p:nvPr/>
        </p:nvSpPr>
        <p:spPr>
          <a:xfrm>
            <a:off x="3089935" y="942846"/>
            <a:ext cx="2964130" cy="70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8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53" name="Text 2"/>
          <p:cNvSpPr txBox="1"/>
          <p:nvPr/>
        </p:nvSpPr>
        <p:spPr>
          <a:xfrm>
            <a:off x="3298928" y="1956038"/>
            <a:ext cx="2546144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A8C0F0"/>
                </a:solidFill>
              </a:defRPr>
            </a:lvl1pPr>
          </a:lstStyle>
          <a:p>
            <a:pPr/>
            <a:r>
              <a:t>Questions &amp; Discussion</a:t>
            </a:r>
          </a:p>
        </p:txBody>
      </p:sp>
      <p:sp>
        <p:nvSpPr>
          <p:cNvPr id="354" name="Text 3"/>
          <p:cNvSpPr txBox="1"/>
          <p:nvPr/>
        </p:nvSpPr>
        <p:spPr>
          <a:xfrm>
            <a:off x="3101340" y="2298943"/>
            <a:ext cx="294132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7FBAFF"/>
                </a:solidFill>
              </a:defRPr>
            </a:lvl1pPr>
          </a:lstStyle>
          <a:p>
            <a:pPr/>
            <a:r>
              <a:t>github.com/bandisaivikas/actuary-ai-mas</a:t>
            </a:r>
          </a:p>
        </p:txBody>
      </p:sp>
      <p:sp>
        <p:nvSpPr>
          <p:cNvPr id="355" name="Shape 18"/>
          <p:cNvSpPr/>
          <p:nvPr/>
        </p:nvSpPr>
        <p:spPr>
          <a:xfrm>
            <a:off x="0" y="4754879"/>
            <a:ext cx="9144000" cy="388621"/>
          </a:xfrm>
          <a:prstGeom prst="rect">
            <a:avLst/>
          </a:prstGeom>
          <a:solidFill>
            <a:srgbClr val="0F2473"/>
          </a:solidFill>
          <a:ln w="12700">
            <a:solidFill>
              <a:srgbClr val="0F2473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14250" t="22127" r="1474" b="7657"/>
          <a:stretch>
            <a:fillRect/>
          </a:stretch>
        </p:blipFill>
        <p:spPr>
          <a:xfrm>
            <a:off x="163201" y="3787415"/>
            <a:ext cx="1014823" cy="845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20" h="21526" fill="norm" stroke="1" extrusionOk="0">
                <a:moveTo>
                  <a:pt x="9273" y="24"/>
                </a:moveTo>
                <a:cubicBezTo>
                  <a:pt x="8806" y="56"/>
                  <a:pt x="8358" y="121"/>
                  <a:pt x="7944" y="216"/>
                </a:cubicBezTo>
                <a:cubicBezTo>
                  <a:pt x="6589" y="528"/>
                  <a:pt x="4664" y="1516"/>
                  <a:pt x="3587" y="2449"/>
                </a:cubicBezTo>
                <a:cubicBezTo>
                  <a:pt x="2000" y="3826"/>
                  <a:pt x="612" y="6262"/>
                  <a:pt x="179" y="8431"/>
                </a:cubicBezTo>
                <a:cubicBezTo>
                  <a:pt x="-140" y="10029"/>
                  <a:pt x="-22" y="12631"/>
                  <a:pt x="440" y="14059"/>
                </a:cubicBezTo>
                <a:cubicBezTo>
                  <a:pt x="1665" y="17848"/>
                  <a:pt x="4966" y="20857"/>
                  <a:pt x="8490" y="21395"/>
                </a:cubicBezTo>
                <a:cubicBezTo>
                  <a:pt x="9078" y="21484"/>
                  <a:pt x="9453" y="21524"/>
                  <a:pt x="9850" y="21526"/>
                </a:cubicBezTo>
                <a:cubicBezTo>
                  <a:pt x="10248" y="21528"/>
                  <a:pt x="10669" y="21488"/>
                  <a:pt x="11352" y="21405"/>
                </a:cubicBezTo>
                <a:cubicBezTo>
                  <a:pt x="15099" y="20949"/>
                  <a:pt x="18485" y="18020"/>
                  <a:pt x="19687" y="14190"/>
                </a:cubicBezTo>
                <a:cubicBezTo>
                  <a:pt x="21460" y="8544"/>
                  <a:pt x="18666" y="2506"/>
                  <a:pt x="13377" y="549"/>
                </a:cubicBezTo>
                <a:cubicBezTo>
                  <a:pt x="12225" y="122"/>
                  <a:pt x="10672" y="-72"/>
                  <a:pt x="9273" y="24"/>
                </a:cubicBezTo>
                <a:close/>
                <a:moveTo>
                  <a:pt x="9565" y="3369"/>
                </a:moveTo>
                <a:cubicBezTo>
                  <a:pt x="9719" y="3380"/>
                  <a:pt x="9803" y="3414"/>
                  <a:pt x="9779" y="3490"/>
                </a:cubicBezTo>
                <a:cubicBezTo>
                  <a:pt x="9719" y="3682"/>
                  <a:pt x="9663" y="3722"/>
                  <a:pt x="8854" y="4106"/>
                </a:cubicBezTo>
                <a:cubicBezTo>
                  <a:pt x="8591" y="4231"/>
                  <a:pt x="8193" y="4467"/>
                  <a:pt x="7968" y="4621"/>
                </a:cubicBezTo>
                <a:cubicBezTo>
                  <a:pt x="7527" y="4922"/>
                  <a:pt x="7316" y="4889"/>
                  <a:pt x="6940" y="4490"/>
                </a:cubicBezTo>
                <a:cubicBezTo>
                  <a:pt x="6710" y="4246"/>
                  <a:pt x="6729" y="4219"/>
                  <a:pt x="7399" y="3874"/>
                </a:cubicBezTo>
                <a:cubicBezTo>
                  <a:pt x="8009" y="3559"/>
                  <a:pt x="9100" y="3336"/>
                  <a:pt x="9565" y="336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57" name="Text 2"/>
          <p:cNvSpPr txBox="1"/>
          <p:nvPr/>
        </p:nvSpPr>
        <p:spPr>
          <a:xfrm>
            <a:off x="1188719" y="3957026"/>
            <a:ext cx="5852162" cy="506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500">
                <a:solidFill>
                  <a:srgbClr val="1B2A7B"/>
                </a:solidFill>
              </a:defRPr>
            </a:lvl1pPr>
          </a:lstStyle>
          <a:p>
            <a:pPr/>
            <a:r>
              <a:t>Dr. Shyama Prasad Mukherjee International Institute of Information Technology, Naya Raipur</a:t>
            </a:r>
          </a:p>
        </p:txBody>
      </p:sp>
      <p:sp>
        <p:nvSpPr>
          <p:cNvPr id="358" name="International Institute of Information Technology, Naya Raipur"/>
          <p:cNvSpPr txBox="1"/>
          <p:nvPr/>
        </p:nvSpPr>
        <p:spPr>
          <a:xfrm>
            <a:off x="1614963" y="4782820"/>
            <a:ext cx="591407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International Institute of Information Technology, Naya Raipur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